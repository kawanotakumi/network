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17.xml" ContentType="application/vnd.openxmlformats-officedocument.presentationml.slid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4" r:id="rId8"/>
    <p:sldId id="265" r:id="rId9"/>
    <p:sldId id="262" r:id="rId10"/>
    <p:sldId id="263" r:id="rId11"/>
    <p:sldId id="266" r:id="rId12"/>
    <p:sldId id="267" r:id="rId13"/>
    <p:sldId id="268" r:id="rId14"/>
    <p:sldId id="269" r:id="rId15"/>
    <p:sldId id="270" r:id="rId16"/>
    <p:sldId id="273" r:id="rId17"/>
    <p:sldId id="272" r:id="rId18"/>
    <p:sldId id="271" r:id="rId19"/>
    <p:sldId id="275" r:id="rId20"/>
    <p:sldId id="276" r:id="rId21"/>
    <p:sldId id="277" r:id="rId22"/>
    <p:sldId id="278" r:id="rId23"/>
    <p:sldId id="279" r:id="rId24"/>
    <p:sldId id="280" r:id="rId2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1" d="100"/>
          <a:sy n="61" d="100"/>
        </p:scale>
        <p:origin x="42" y="714"/>
      </p:cViewPr>
      <p:guideLst/>
    </p:cSldViewPr>
  </p:slideViewPr>
  <p:notesTextViewPr>
    <p:cViewPr>
      <p:scale>
        <a:sx n="1" d="1"/>
        <a:sy n="1" d="1"/>
      </p:scale>
      <p:origin x="0" y="0"/>
    </p:cViewPr>
  </p:notesTextViewPr>
  <p:sorterViewPr>
    <p:cViewPr>
      <p:scale>
        <a:sx n="100" d="100"/>
        <a:sy n="100" d="100"/>
      </p:scale>
      <p:origin x="0" y="-126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openxmlformats.org/officeDocument/2006/relationships/customXml" Target="../customXml/item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7F672DC0-D805-4DF8-A10E-B9503FB9AE78}" type="datetimeFigureOut">
              <a:rPr kumimoji="1" lang="ja-JP" altLang="en-US" smtClean="0"/>
              <a:t>2026/9/14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528E5C7-E204-408D-A91D-653027059F46}" type="slidenum">
              <a:rPr kumimoji="1" lang="ja-JP" altLang="en-US" smtClean="0"/>
              <a:t>‹#›</a:t>
            </a:fld>
            <a:endParaRPr kumimoji="1" lang="ja-JP" altLang="en-US"/>
          </a:p>
        </p:txBody>
      </p:sp>
    </p:spTree>
    <p:extLst>
      <p:ext uri="{BB962C8B-B14F-4D97-AF65-F5344CB8AC3E}">
        <p14:creationId xmlns:p14="http://schemas.microsoft.com/office/powerpoint/2010/main" val="959388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7F672DC0-D805-4DF8-A10E-B9503FB9AE78}" type="datetimeFigureOut">
              <a:rPr kumimoji="1" lang="ja-JP" altLang="en-US" smtClean="0"/>
              <a:t>2026/9/14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528E5C7-E204-408D-A91D-653027059F46}" type="slidenum">
              <a:rPr kumimoji="1" lang="ja-JP" altLang="en-US" smtClean="0"/>
              <a:t>‹#›</a:t>
            </a:fld>
            <a:endParaRPr kumimoji="1" lang="ja-JP" altLang="en-US"/>
          </a:p>
        </p:txBody>
      </p:sp>
    </p:spTree>
    <p:extLst>
      <p:ext uri="{BB962C8B-B14F-4D97-AF65-F5344CB8AC3E}">
        <p14:creationId xmlns:p14="http://schemas.microsoft.com/office/powerpoint/2010/main" val="92925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7F672DC0-D805-4DF8-A10E-B9503FB9AE78}" type="datetimeFigureOut">
              <a:rPr kumimoji="1" lang="ja-JP" altLang="en-US" smtClean="0"/>
              <a:t>2026/9/14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528E5C7-E204-408D-A91D-653027059F46}" type="slidenum">
              <a:rPr kumimoji="1" lang="ja-JP" altLang="en-US" smtClean="0"/>
              <a:t>‹#›</a:t>
            </a:fld>
            <a:endParaRPr kumimoji="1" lang="ja-JP" altLang="en-US"/>
          </a:p>
        </p:txBody>
      </p:sp>
    </p:spTree>
    <p:extLst>
      <p:ext uri="{BB962C8B-B14F-4D97-AF65-F5344CB8AC3E}">
        <p14:creationId xmlns:p14="http://schemas.microsoft.com/office/powerpoint/2010/main" val="3307035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7F672DC0-D805-4DF8-A10E-B9503FB9AE78}" type="datetimeFigureOut">
              <a:rPr kumimoji="1" lang="ja-JP" altLang="en-US" smtClean="0"/>
              <a:t>2026/9/14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528E5C7-E204-408D-A91D-653027059F46}" type="slidenum">
              <a:rPr kumimoji="1" lang="ja-JP" altLang="en-US" smtClean="0"/>
              <a:t>‹#›</a:t>
            </a:fld>
            <a:endParaRPr kumimoji="1" lang="ja-JP" altLang="en-US"/>
          </a:p>
        </p:txBody>
      </p:sp>
    </p:spTree>
    <p:extLst>
      <p:ext uri="{BB962C8B-B14F-4D97-AF65-F5344CB8AC3E}">
        <p14:creationId xmlns:p14="http://schemas.microsoft.com/office/powerpoint/2010/main" val="683428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7F672DC0-D805-4DF8-A10E-B9503FB9AE78}" type="datetimeFigureOut">
              <a:rPr kumimoji="1" lang="ja-JP" altLang="en-US" smtClean="0"/>
              <a:t>2026/9/14</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A528E5C7-E204-408D-A91D-653027059F46}" type="slidenum">
              <a:rPr kumimoji="1" lang="ja-JP" altLang="en-US" smtClean="0"/>
              <a:t>‹#›</a:t>
            </a:fld>
            <a:endParaRPr kumimoji="1" lang="ja-JP" altLang="en-US"/>
          </a:p>
        </p:txBody>
      </p:sp>
    </p:spTree>
    <p:extLst>
      <p:ext uri="{BB962C8B-B14F-4D97-AF65-F5344CB8AC3E}">
        <p14:creationId xmlns:p14="http://schemas.microsoft.com/office/powerpoint/2010/main" val="2624663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7F672DC0-D805-4DF8-A10E-B9503FB9AE78}" type="datetimeFigureOut">
              <a:rPr kumimoji="1" lang="ja-JP" altLang="en-US" smtClean="0"/>
              <a:t>2026/9/14</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A528E5C7-E204-408D-A91D-653027059F46}" type="slidenum">
              <a:rPr kumimoji="1" lang="ja-JP" altLang="en-US" smtClean="0"/>
              <a:t>‹#›</a:t>
            </a:fld>
            <a:endParaRPr kumimoji="1" lang="ja-JP" altLang="en-US"/>
          </a:p>
        </p:txBody>
      </p:sp>
    </p:spTree>
    <p:extLst>
      <p:ext uri="{BB962C8B-B14F-4D97-AF65-F5344CB8AC3E}">
        <p14:creationId xmlns:p14="http://schemas.microsoft.com/office/powerpoint/2010/main" val="1175121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7F672DC0-D805-4DF8-A10E-B9503FB9AE78}" type="datetimeFigureOut">
              <a:rPr kumimoji="1" lang="ja-JP" altLang="en-US" smtClean="0"/>
              <a:t>2026/9/14</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A528E5C7-E204-408D-A91D-653027059F46}" type="slidenum">
              <a:rPr kumimoji="1" lang="ja-JP" altLang="en-US" smtClean="0"/>
              <a:t>‹#›</a:t>
            </a:fld>
            <a:endParaRPr kumimoji="1" lang="ja-JP" altLang="en-US"/>
          </a:p>
        </p:txBody>
      </p:sp>
    </p:spTree>
    <p:extLst>
      <p:ext uri="{BB962C8B-B14F-4D97-AF65-F5344CB8AC3E}">
        <p14:creationId xmlns:p14="http://schemas.microsoft.com/office/powerpoint/2010/main" val="292214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7F672DC0-D805-4DF8-A10E-B9503FB9AE78}" type="datetimeFigureOut">
              <a:rPr kumimoji="1" lang="ja-JP" altLang="en-US" smtClean="0"/>
              <a:t>2026/9/14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528E5C7-E204-408D-A91D-653027059F46}" type="slidenum">
              <a:rPr kumimoji="1" lang="ja-JP" altLang="en-US" smtClean="0"/>
              <a:t>‹#›</a:t>
            </a:fld>
            <a:endParaRPr kumimoji="1" lang="ja-JP" altLang="en-US"/>
          </a:p>
        </p:txBody>
      </p:sp>
    </p:spTree>
    <p:extLst>
      <p:ext uri="{BB962C8B-B14F-4D97-AF65-F5344CB8AC3E}">
        <p14:creationId xmlns:p14="http://schemas.microsoft.com/office/powerpoint/2010/main" val="1490051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7F672DC0-D805-4DF8-A10E-B9503FB9AE78}" type="datetimeFigureOut">
              <a:rPr kumimoji="1" lang="ja-JP" altLang="en-US" smtClean="0"/>
              <a:t>2026/9/14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528E5C7-E204-408D-A91D-653027059F46}" type="slidenum">
              <a:rPr kumimoji="1" lang="ja-JP" altLang="en-US" smtClean="0"/>
              <a:t>‹#›</a:t>
            </a:fld>
            <a:endParaRPr kumimoji="1" lang="ja-JP" altLang="en-US"/>
          </a:p>
        </p:txBody>
      </p:sp>
    </p:spTree>
    <p:extLst>
      <p:ext uri="{BB962C8B-B14F-4D97-AF65-F5344CB8AC3E}">
        <p14:creationId xmlns:p14="http://schemas.microsoft.com/office/powerpoint/2010/main" val="2705702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7F672DC0-D805-4DF8-A10E-B9503FB9AE78}" type="datetimeFigureOut">
              <a:rPr kumimoji="1" lang="ja-JP" altLang="en-US" smtClean="0"/>
              <a:t>2026/9/14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528E5C7-E204-408D-A91D-653027059F46}" type="slidenum">
              <a:rPr kumimoji="1" lang="ja-JP" altLang="en-US" smtClean="0"/>
              <a:t>‹#›</a:t>
            </a:fld>
            <a:endParaRPr kumimoji="1" lang="ja-JP" altLang="en-US"/>
          </a:p>
        </p:txBody>
      </p:sp>
    </p:spTree>
    <p:extLst>
      <p:ext uri="{BB962C8B-B14F-4D97-AF65-F5344CB8AC3E}">
        <p14:creationId xmlns:p14="http://schemas.microsoft.com/office/powerpoint/2010/main" val="3341034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7F672DC0-D805-4DF8-A10E-B9503FB9AE78}" type="datetimeFigureOut">
              <a:rPr kumimoji="1" lang="ja-JP" altLang="en-US" smtClean="0"/>
              <a:t>2026/9/14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528E5C7-E204-408D-A91D-653027059F46}" type="slidenum">
              <a:rPr kumimoji="1" lang="ja-JP" altLang="en-US" smtClean="0"/>
              <a:t>‹#›</a:t>
            </a:fld>
            <a:endParaRPr kumimoji="1" lang="ja-JP" altLang="en-US"/>
          </a:p>
        </p:txBody>
      </p:sp>
    </p:spTree>
    <p:extLst>
      <p:ext uri="{BB962C8B-B14F-4D97-AF65-F5344CB8AC3E}">
        <p14:creationId xmlns:p14="http://schemas.microsoft.com/office/powerpoint/2010/main" val="2141821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672DC0-D805-4DF8-A10E-B9503FB9AE78}" type="datetimeFigureOut">
              <a:rPr kumimoji="1" lang="ja-JP" altLang="en-US" smtClean="0"/>
              <a:t>2026/9/14</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28E5C7-E204-408D-A91D-653027059F46}" type="slidenum">
              <a:rPr kumimoji="1" lang="ja-JP" altLang="en-US" smtClean="0"/>
              <a:t>‹#›</a:t>
            </a:fld>
            <a:endParaRPr kumimoji="1" lang="ja-JP" altLang="en-US"/>
          </a:p>
        </p:txBody>
      </p:sp>
    </p:spTree>
    <p:extLst>
      <p:ext uri="{BB962C8B-B14F-4D97-AF65-F5344CB8AC3E}">
        <p14:creationId xmlns:p14="http://schemas.microsoft.com/office/powerpoint/2010/main" val="697955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smtClean="0"/>
              <a:t>敵の同期</a:t>
            </a:r>
            <a:endParaRPr kumimoji="1" lang="ja-JP" altLang="en-US" dirty="0"/>
          </a:p>
        </p:txBody>
      </p:sp>
      <p:sp>
        <p:nvSpPr>
          <p:cNvPr id="3" name="サブタイトル 2"/>
          <p:cNvSpPr>
            <a:spLocks noGrp="1"/>
          </p:cNvSpPr>
          <p:nvPr>
            <p:ph type="subTitle" idx="1"/>
          </p:nvPr>
        </p:nvSpPr>
        <p:spPr/>
        <p:txBody>
          <a:bodyPr/>
          <a:lstStyle/>
          <a:p>
            <a:endParaRPr kumimoji="1" lang="ja-JP" altLang="en-US" dirty="0"/>
          </a:p>
        </p:txBody>
      </p:sp>
    </p:spTree>
    <p:extLst>
      <p:ext uri="{BB962C8B-B14F-4D97-AF65-F5344CB8AC3E}">
        <p14:creationId xmlns:p14="http://schemas.microsoft.com/office/powerpoint/2010/main" val="14636483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368490" y="300251"/>
            <a:ext cx="11614077" cy="1683666"/>
          </a:xfrm>
          <a:prstGeom prst="rect">
            <a:avLst/>
          </a:prstGeom>
          <a:noFill/>
        </p:spPr>
        <p:txBody>
          <a:bodyPr wrap="none" rtlCol="0">
            <a:spAutoFit/>
          </a:bodyPr>
          <a:lstStyle/>
          <a:p>
            <a:pPr>
              <a:lnSpc>
                <a:spcPct val="150000"/>
              </a:lnSpc>
            </a:pPr>
            <a:r>
              <a:rPr kumimoji="1" lang="ja-JP" altLang="en-US" dirty="0" smtClean="0">
                <a:latin typeface="BIZ UDPゴシック" panose="020B0400000000000000" pitchFamily="50" charset="-128"/>
                <a:ea typeface="BIZ UDPゴシック" panose="020B0400000000000000" pitchFamily="50" charset="-128"/>
              </a:rPr>
              <a:t>敵の同期をします。</a:t>
            </a:r>
            <a:endParaRPr kumimoji="1" lang="en-US" altLang="ja-JP" dirty="0" smtClean="0">
              <a:latin typeface="BIZ UDPゴシック" panose="020B0400000000000000" pitchFamily="50" charset="-128"/>
              <a:ea typeface="BIZ UDPゴシック" panose="020B0400000000000000" pitchFamily="50" charset="-128"/>
            </a:endParaRPr>
          </a:p>
          <a:p>
            <a:pPr>
              <a:lnSpc>
                <a:spcPct val="150000"/>
              </a:lnSpc>
            </a:pPr>
            <a:r>
              <a:rPr lang="ja-JP" altLang="en-US" dirty="0">
                <a:latin typeface="BIZ UDPゴシック" panose="020B0400000000000000" pitchFamily="50" charset="-128"/>
                <a:ea typeface="BIZ UDPゴシック" panose="020B0400000000000000" pitchFamily="50" charset="-128"/>
              </a:rPr>
              <a:t>基本的に</a:t>
            </a:r>
            <a:r>
              <a:rPr lang="ja-JP" altLang="en-US" dirty="0" smtClean="0">
                <a:latin typeface="BIZ UDPゴシック" panose="020B0400000000000000" pitchFamily="50" charset="-128"/>
                <a:ea typeface="BIZ UDPゴシック" panose="020B0400000000000000" pitchFamily="50" charset="-128"/>
              </a:rPr>
              <a:t>は、プレイヤーの同期と同じ考えですが、サーバーとクライアントの処理について役目を確認しておきます。</a:t>
            </a:r>
            <a:endParaRPr lang="en-US" altLang="ja-JP" dirty="0" smtClean="0">
              <a:latin typeface="BIZ UDPゴシック" panose="020B0400000000000000" pitchFamily="50" charset="-128"/>
              <a:ea typeface="BIZ UDPゴシック" panose="020B0400000000000000" pitchFamily="50" charset="-128"/>
            </a:endParaRPr>
          </a:p>
          <a:p>
            <a:pPr>
              <a:lnSpc>
                <a:spcPct val="150000"/>
              </a:lnSpc>
            </a:pPr>
            <a:endParaRPr kumimoji="1" lang="en-US" altLang="ja-JP" dirty="0" smtClean="0">
              <a:latin typeface="BIZ UDPゴシック" panose="020B0400000000000000" pitchFamily="50" charset="-128"/>
              <a:ea typeface="BIZ UDPゴシック" panose="020B0400000000000000" pitchFamily="50" charset="-128"/>
            </a:endParaRPr>
          </a:p>
          <a:p>
            <a:pPr>
              <a:lnSpc>
                <a:spcPct val="150000"/>
              </a:lnSpc>
            </a:pPr>
            <a:r>
              <a:rPr lang="ja-JP" altLang="en-US" dirty="0" smtClean="0">
                <a:latin typeface="BIZ UDPゴシック" panose="020B0400000000000000" pitchFamily="50" charset="-128"/>
                <a:ea typeface="BIZ UDPゴシック" panose="020B0400000000000000" pitchFamily="50" charset="-128"/>
              </a:rPr>
              <a:t>ざっくりと機能を分けると・・・</a:t>
            </a:r>
            <a:endParaRPr kumimoji="1" lang="ja-JP" altLang="en-US" dirty="0">
              <a:latin typeface="BIZ UDPゴシック" panose="020B0400000000000000" pitchFamily="50" charset="-128"/>
              <a:ea typeface="BIZ UDPゴシック" panose="020B0400000000000000" pitchFamily="50" charset="-128"/>
            </a:endParaRPr>
          </a:p>
        </p:txBody>
      </p:sp>
      <p:sp>
        <p:nvSpPr>
          <p:cNvPr id="6" name="テキスト ボックス 5"/>
          <p:cNvSpPr txBox="1"/>
          <p:nvPr/>
        </p:nvSpPr>
        <p:spPr>
          <a:xfrm>
            <a:off x="657248" y="2560020"/>
            <a:ext cx="2339102" cy="1660198"/>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nSpc>
                <a:spcPct val="150000"/>
              </a:lnSpc>
            </a:pPr>
            <a:r>
              <a:rPr kumimoji="1" lang="ja-JP" altLang="en-US" sz="2400" b="1" dirty="0" smtClean="0">
                <a:latin typeface="BIZ UDPゴシック" panose="020B0400000000000000" pitchFamily="50" charset="-128"/>
                <a:ea typeface="BIZ UDPゴシック" panose="020B0400000000000000" pitchFamily="50" charset="-128"/>
              </a:rPr>
              <a:t>サーバー</a:t>
            </a:r>
            <a:endParaRPr kumimoji="1" lang="en-US" altLang="ja-JP" sz="2400" b="1" dirty="0" smtClean="0">
              <a:latin typeface="BIZ UDPゴシック" panose="020B0400000000000000" pitchFamily="50" charset="-128"/>
              <a:ea typeface="BIZ UDPゴシック" panose="020B0400000000000000" pitchFamily="50" charset="-128"/>
            </a:endParaRPr>
          </a:p>
          <a:p>
            <a:pPr>
              <a:lnSpc>
                <a:spcPct val="150000"/>
              </a:lnSpc>
            </a:pPr>
            <a:r>
              <a:rPr kumimoji="1" lang="ja-JP" altLang="en-US" sz="2400" dirty="0" smtClean="0">
                <a:latin typeface="BIZ UDPゴシック" panose="020B0400000000000000" pitchFamily="50" charset="-128"/>
                <a:ea typeface="BIZ UDPゴシック" panose="020B0400000000000000" pitchFamily="50" charset="-128"/>
              </a:rPr>
              <a:t>①敵のスポーン</a:t>
            </a:r>
            <a:endParaRPr kumimoji="1" lang="en-US" altLang="ja-JP" sz="24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400" dirty="0" smtClean="0">
                <a:latin typeface="BIZ UDPゴシック" panose="020B0400000000000000" pitchFamily="50" charset="-128"/>
                <a:ea typeface="BIZ UDPゴシック" panose="020B0400000000000000" pitchFamily="50" charset="-128"/>
              </a:rPr>
              <a:t>②敵の移動処理</a:t>
            </a:r>
            <a:endParaRPr lang="en-US" altLang="ja-JP" sz="2400" dirty="0" smtClean="0">
              <a:latin typeface="BIZ UDPゴシック" panose="020B0400000000000000" pitchFamily="50" charset="-128"/>
              <a:ea typeface="BIZ UDPゴシック" panose="020B0400000000000000" pitchFamily="50" charset="-128"/>
            </a:endParaRPr>
          </a:p>
        </p:txBody>
      </p:sp>
      <p:sp>
        <p:nvSpPr>
          <p:cNvPr id="9" name="テキスト ボックス 8"/>
          <p:cNvSpPr txBox="1"/>
          <p:nvPr/>
        </p:nvSpPr>
        <p:spPr>
          <a:xfrm>
            <a:off x="3937858" y="2560020"/>
            <a:ext cx="4969630" cy="110620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nSpc>
                <a:spcPct val="150000"/>
              </a:lnSpc>
            </a:pPr>
            <a:r>
              <a:rPr kumimoji="1" lang="ja-JP" altLang="en-US" sz="2400" b="1" dirty="0" smtClean="0">
                <a:latin typeface="BIZ UDPゴシック" panose="020B0400000000000000" pitchFamily="50" charset="-128"/>
                <a:ea typeface="BIZ UDPゴシック" panose="020B0400000000000000" pitchFamily="50" charset="-128"/>
              </a:rPr>
              <a:t>クライアント</a:t>
            </a:r>
            <a:endParaRPr kumimoji="1" lang="en-US" altLang="ja-JP" sz="2400" b="1" dirty="0" smtClean="0">
              <a:latin typeface="BIZ UDPゴシック" panose="020B0400000000000000" pitchFamily="50" charset="-128"/>
              <a:ea typeface="BIZ UDPゴシック" panose="020B0400000000000000" pitchFamily="50" charset="-128"/>
            </a:endParaRPr>
          </a:p>
          <a:p>
            <a:pPr>
              <a:lnSpc>
                <a:spcPct val="150000"/>
              </a:lnSpc>
            </a:pPr>
            <a:r>
              <a:rPr kumimoji="1" lang="ja-JP" altLang="en-US" sz="2400" dirty="0" smtClean="0">
                <a:latin typeface="BIZ UDPゴシック" panose="020B0400000000000000" pitchFamily="50" charset="-128"/>
                <a:ea typeface="BIZ UDPゴシック" panose="020B0400000000000000" pitchFamily="50" charset="-128"/>
              </a:rPr>
              <a:t>①送られたデータを元に描画を行う</a:t>
            </a:r>
            <a:endParaRPr lang="en-US" altLang="ja-JP" sz="2400" dirty="0" smtClean="0">
              <a:latin typeface="BIZ UDPゴシック" panose="020B0400000000000000" pitchFamily="50" charset="-128"/>
              <a:ea typeface="BIZ UDPゴシック" panose="020B0400000000000000" pitchFamily="50" charset="-128"/>
            </a:endParaRPr>
          </a:p>
        </p:txBody>
      </p:sp>
      <p:sp>
        <p:nvSpPr>
          <p:cNvPr id="10" name="テキスト ボックス 9"/>
          <p:cNvSpPr txBox="1"/>
          <p:nvPr/>
        </p:nvSpPr>
        <p:spPr>
          <a:xfrm>
            <a:off x="368490" y="4796321"/>
            <a:ext cx="8004114" cy="1338828"/>
          </a:xfrm>
          <a:prstGeom prst="rect">
            <a:avLst/>
          </a:prstGeom>
          <a:noFill/>
        </p:spPr>
        <p:txBody>
          <a:bodyPr wrap="none" rtlCol="0">
            <a:spAutoFit/>
          </a:bodyPr>
          <a:lstStyle/>
          <a:p>
            <a:pPr>
              <a:lnSpc>
                <a:spcPct val="150000"/>
              </a:lnSpc>
            </a:pPr>
            <a:r>
              <a:rPr kumimoji="1" lang="ja-JP" altLang="en-US" dirty="0" smtClean="0">
                <a:latin typeface="BIZ UDPゴシック" panose="020B0400000000000000" pitchFamily="50" charset="-128"/>
                <a:ea typeface="BIZ UDPゴシック" panose="020B0400000000000000" pitchFamily="50" charset="-128"/>
              </a:rPr>
              <a:t>基本的にクライアントは、描画処理を行う。</a:t>
            </a:r>
            <a:endParaRPr kumimoji="1" lang="en-US" altLang="ja-JP" dirty="0" smtClean="0">
              <a:latin typeface="BIZ UDPゴシック" panose="020B0400000000000000" pitchFamily="50" charset="-128"/>
              <a:ea typeface="BIZ UDPゴシック" panose="020B0400000000000000" pitchFamily="50" charset="-128"/>
            </a:endParaRPr>
          </a:p>
          <a:p>
            <a:pPr>
              <a:lnSpc>
                <a:spcPct val="150000"/>
              </a:lnSpc>
            </a:pPr>
            <a:r>
              <a:rPr lang="ja-JP" altLang="en-US" dirty="0" smtClean="0">
                <a:latin typeface="BIZ UDPゴシック" panose="020B0400000000000000" pitchFamily="50" charset="-128"/>
                <a:ea typeface="BIZ UDPゴシック" panose="020B0400000000000000" pitchFamily="50" charset="-128"/>
              </a:rPr>
              <a:t>ただし、イベントとして受け取って処理をするものはクライアントで処理をする。</a:t>
            </a:r>
            <a:endParaRPr lang="en-US" altLang="ja-JP" dirty="0" smtClean="0">
              <a:latin typeface="BIZ UDPゴシック" panose="020B0400000000000000" pitchFamily="50" charset="-128"/>
              <a:ea typeface="BIZ UDPゴシック" panose="020B0400000000000000" pitchFamily="50" charset="-128"/>
            </a:endParaRPr>
          </a:p>
          <a:p>
            <a:pPr>
              <a:lnSpc>
                <a:spcPct val="150000"/>
              </a:lnSpc>
            </a:pPr>
            <a:r>
              <a:rPr lang="ja-JP" altLang="en-US" dirty="0" smtClean="0">
                <a:latin typeface="BIZ UDPゴシック" panose="020B0400000000000000" pitchFamily="50" charset="-128"/>
                <a:ea typeface="BIZ UDPゴシック" panose="020B0400000000000000" pitchFamily="50" charset="-128"/>
              </a:rPr>
              <a:t>例）　ノックバック処理など</a:t>
            </a:r>
            <a:endParaRPr kumimoji="1" lang="en-US" altLang="ja-JP" dirty="0" smtClea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5308628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p:cNvPicPr>
            <a:picLocks noChangeAspect="1"/>
          </p:cNvPicPr>
          <p:nvPr/>
        </p:nvPicPr>
        <p:blipFill>
          <a:blip r:embed="rId2"/>
          <a:stretch>
            <a:fillRect/>
          </a:stretch>
        </p:blipFill>
        <p:spPr>
          <a:xfrm>
            <a:off x="279997" y="689934"/>
            <a:ext cx="6456875" cy="1889275"/>
          </a:xfrm>
          <a:prstGeom prst="rect">
            <a:avLst/>
          </a:prstGeom>
        </p:spPr>
      </p:pic>
      <p:sp>
        <p:nvSpPr>
          <p:cNvPr id="10" name="テキスト ボックス 9"/>
          <p:cNvSpPr txBox="1"/>
          <p:nvPr/>
        </p:nvSpPr>
        <p:spPr>
          <a:xfrm>
            <a:off x="279998" y="0"/>
            <a:ext cx="2664512" cy="553998"/>
          </a:xfrm>
          <a:prstGeom prst="rect">
            <a:avLst/>
          </a:prstGeom>
          <a:noFill/>
        </p:spPr>
        <p:txBody>
          <a:bodyPr wrap="none" rtlCol="0">
            <a:spAutoFit/>
          </a:bodyPr>
          <a:lstStyle/>
          <a:p>
            <a:pPr>
              <a:lnSpc>
                <a:spcPct val="150000"/>
              </a:lnSpc>
            </a:pPr>
            <a:r>
              <a:rPr kumimoji="1" lang="en-US" altLang="ja-JP" sz="2000" dirty="0" err="1" smtClean="0">
                <a:latin typeface="BIZ UDPゴシック" panose="020B0400000000000000" pitchFamily="50" charset="-128"/>
                <a:ea typeface="BIZ UDPゴシック" panose="020B0400000000000000" pitchFamily="50" charset="-128"/>
              </a:rPr>
              <a:t>CNet_Data.h</a:t>
            </a:r>
            <a:r>
              <a:rPr kumimoji="1" lang="ja-JP" altLang="en-US" sz="2000" dirty="0" smtClean="0">
                <a:latin typeface="BIZ UDPゴシック" panose="020B0400000000000000" pitchFamily="50" charset="-128"/>
                <a:ea typeface="BIZ UDPゴシック" panose="020B0400000000000000" pitchFamily="50" charset="-128"/>
              </a:rPr>
              <a:t>に追加</a:t>
            </a:r>
            <a:endParaRPr kumimoji="1" lang="ja-JP" altLang="en-US" sz="2000" dirty="0">
              <a:latin typeface="BIZ UDPゴシック" panose="020B0400000000000000" pitchFamily="50" charset="-128"/>
              <a:ea typeface="BIZ UDPゴシック" panose="020B0400000000000000" pitchFamily="50" charset="-128"/>
            </a:endParaRPr>
          </a:p>
        </p:txBody>
      </p:sp>
      <p:pic>
        <p:nvPicPr>
          <p:cNvPr id="11" name="図 10"/>
          <p:cNvPicPr>
            <a:picLocks noChangeAspect="1"/>
          </p:cNvPicPr>
          <p:nvPr/>
        </p:nvPicPr>
        <p:blipFill>
          <a:blip r:embed="rId3"/>
          <a:stretch>
            <a:fillRect/>
          </a:stretch>
        </p:blipFill>
        <p:spPr>
          <a:xfrm>
            <a:off x="279997" y="2715145"/>
            <a:ext cx="6456874" cy="2319248"/>
          </a:xfrm>
          <a:prstGeom prst="rect">
            <a:avLst/>
          </a:prstGeom>
        </p:spPr>
      </p:pic>
      <p:sp>
        <p:nvSpPr>
          <p:cNvPr id="12" name="テキスト ボックス 11"/>
          <p:cNvSpPr txBox="1"/>
          <p:nvPr/>
        </p:nvSpPr>
        <p:spPr>
          <a:xfrm>
            <a:off x="2944510" y="4800997"/>
            <a:ext cx="641050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dirty="0" smtClean="0">
                <a:latin typeface="BIZ UDPゴシック" panose="020B0400000000000000" pitchFamily="50" charset="-128"/>
                <a:ea typeface="BIZ UDPゴシック" panose="020B0400000000000000" pitchFamily="50" charset="-128"/>
              </a:rPr>
              <a:t>MAX_ENEMY</a:t>
            </a:r>
            <a:r>
              <a:rPr kumimoji="1" lang="ja-JP" altLang="en-US" dirty="0" smtClean="0">
                <a:latin typeface="BIZ UDPゴシック" panose="020B0400000000000000" pitchFamily="50" charset="-128"/>
                <a:ea typeface="BIZ UDPゴシック" panose="020B0400000000000000" pitchFamily="50" charset="-128"/>
              </a:rPr>
              <a:t>は</a:t>
            </a:r>
            <a:r>
              <a:rPr kumimoji="1" lang="en-US" altLang="ja-JP" dirty="0" err="1" smtClean="0">
                <a:latin typeface="BIZ UDPゴシック" panose="020B0400000000000000" pitchFamily="50" charset="-128"/>
                <a:ea typeface="BIZ UDPゴシック" panose="020B0400000000000000" pitchFamily="50" charset="-128"/>
              </a:rPr>
              <a:t>main.h</a:t>
            </a:r>
            <a:r>
              <a:rPr kumimoji="1" lang="ja-JP" altLang="en-US" dirty="0" smtClean="0">
                <a:latin typeface="BIZ UDPゴシック" panose="020B0400000000000000" pitchFamily="50" charset="-128"/>
                <a:ea typeface="BIZ UDPゴシック" panose="020B0400000000000000" pitchFamily="50" charset="-128"/>
              </a:rPr>
              <a:t>で定義する。</a:t>
            </a:r>
            <a:r>
              <a:rPr kumimoji="1" lang="en-US" altLang="ja-JP" dirty="0" smtClean="0">
                <a:latin typeface="BIZ UDPゴシック" panose="020B0400000000000000" pitchFamily="50" charset="-128"/>
                <a:ea typeface="BIZ UDPゴシック" panose="020B0400000000000000" pitchFamily="50" charset="-128"/>
              </a:rPr>
              <a:t>256</a:t>
            </a:r>
            <a:r>
              <a:rPr kumimoji="1" lang="ja-JP" altLang="en-US" dirty="0" smtClean="0">
                <a:latin typeface="BIZ UDPゴシック" panose="020B0400000000000000" pitchFamily="50" charset="-128"/>
                <a:ea typeface="BIZ UDPゴシック" panose="020B0400000000000000" pitchFamily="50" charset="-128"/>
              </a:rPr>
              <a:t>くらいにしておく。</a:t>
            </a:r>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5015732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a:blip r:embed="rId2"/>
          <a:stretch>
            <a:fillRect/>
          </a:stretch>
        </p:blipFill>
        <p:spPr>
          <a:xfrm>
            <a:off x="368490" y="1154129"/>
            <a:ext cx="9033996" cy="3161196"/>
          </a:xfrm>
          <a:prstGeom prst="rect">
            <a:avLst/>
          </a:prstGeom>
        </p:spPr>
      </p:pic>
      <p:sp>
        <p:nvSpPr>
          <p:cNvPr id="5" name="テキスト ボックス 4"/>
          <p:cNvSpPr txBox="1"/>
          <p:nvPr/>
        </p:nvSpPr>
        <p:spPr>
          <a:xfrm>
            <a:off x="368490" y="252125"/>
            <a:ext cx="3531736" cy="553998"/>
          </a:xfrm>
          <a:prstGeom prst="rect">
            <a:avLst/>
          </a:prstGeom>
          <a:noFill/>
        </p:spPr>
        <p:txBody>
          <a:bodyPr wrap="none" rtlCol="0">
            <a:spAutoFit/>
          </a:bodyPr>
          <a:lstStyle/>
          <a:p>
            <a:pPr>
              <a:lnSpc>
                <a:spcPct val="150000"/>
              </a:lnSpc>
            </a:pPr>
            <a:r>
              <a:rPr kumimoji="1" lang="en-US" altLang="ja-JP" sz="2000" dirty="0" err="1" smtClean="0">
                <a:latin typeface="BIZ UDPゴシック" panose="020B0400000000000000" pitchFamily="50" charset="-128"/>
                <a:ea typeface="BIZ UDPゴシック" panose="020B0400000000000000" pitchFamily="50" charset="-128"/>
              </a:rPr>
              <a:t>CServer</a:t>
            </a:r>
            <a:r>
              <a:rPr kumimoji="1" lang="ja-JP" altLang="en-US" sz="2000" dirty="0" smtClean="0">
                <a:latin typeface="BIZ UDPゴシック" panose="020B0400000000000000" pitchFamily="50" charset="-128"/>
                <a:ea typeface="BIZ UDPゴシック" panose="020B0400000000000000" pitchFamily="50" charset="-128"/>
              </a:rPr>
              <a:t>クラスに関数を追加</a:t>
            </a:r>
            <a:endParaRPr kumimoji="1" lang="ja-JP" altLang="en-US" sz="2000" dirty="0">
              <a:latin typeface="BIZ UDPゴシック" panose="020B0400000000000000" pitchFamily="50" charset="-128"/>
              <a:ea typeface="BIZ UDPゴシック" panose="020B0400000000000000" pitchFamily="50" charset="-128"/>
            </a:endParaRPr>
          </a:p>
        </p:txBody>
      </p:sp>
      <p:sp>
        <p:nvSpPr>
          <p:cNvPr id="6" name="テキスト ボックス 5"/>
          <p:cNvSpPr txBox="1"/>
          <p:nvPr/>
        </p:nvSpPr>
        <p:spPr>
          <a:xfrm>
            <a:off x="368490" y="4663331"/>
            <a:ext cx="4993675" cy="553998"/>
          </a:xfrm>
          <a:prstGeom prst="rect">
            <a:avLst/>
          </a:prstGeom>
          <a:noFill/>
        </p:spPr>
        <p:txBody>
          <a:bodyPr wrap="none" rtlCol="0">
            <a:spAutoFit/>
          </a:bodyPr>
          <a:lstStyle/>
          <a:p>
            <a:pPr>
              <a:lnSpc>
                <a:spcPct val="150000"/>
              </a:lnSpc>
            </a:pPr>
            <a:r>
              <a:rPr lang="ja-JP" altLang="en-US" sz="2000" dirty="0">
                <a:latin typeface="BIZ UDPゴシック" panose="020B0400000000000000" pitchFamily="50" charset="-128"/>
                <a:ea typeface="BIZ UDPゴシック" panose="020B0400000000000000" pitchFamily="50" charset="-128"/>
              </a:rPr>
              <a:t>サーバー</a:t>
            </a:r>
            <a:r>
              <a:rPr lang="ja-JP" altLang="en-US" sz="2000" dirty="0" smtClean="0">
                <a:latin typeface="BIZ UDPゴシック" panose="020B0400000000000000" pitchFamily="50" charset="-128"/>
                <a:ea typeface="BIZ UDPゴシック" panose="020B0400000000000000" pitchFamily="50" charset="-128"/>
              </a:rPr>
              <a:t>の敵の情報を収集する関数を追加</a:t>
            </a:r>
            <a:endParaRPr kumimoji="1" lang="ja-JP" altLang="en-US" sz="20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5155116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a:blip r:embed="rId2"/>
          <a:stretch>
            <a:fillRect/>
          </a:stretch>
        </p:blipFill>
        <p:spPr>
          <a:xfrm>
            <a:off x="368490" y="838140"/>
            <a:ext cx="9660413" cy="4306935"/>
          </a:xfrm>
          <a:prstGeom prst="rect">
            <a:avLst/>
          </a:prstGeom>
        </p:spPr>
      </p:pic>
      <p:sp>
        <p:nvSpPr>
          <p:cNvPr id="5" name="テキスト ボックス 4"/>
          <p:cNvSpPr txBox="1"/>
          <p:nvPr/>
        </p:nvSpPr>
        <p:spPr>
          <a:xfrm>
            <a:off x="368490" y="252125"/>
            <a:ext cx="2675732" cy="475515"/>
          </a:xfrm>
          <a:prstGeom prst="rect">
            <a:avLst/>
          </a:prstGeom>
          <a:noFill/>
        </p:spPr>
        <p:txBody>
          <a:bodyPr wrap="none" rtlCol="0">
            <a:spAutoFit/>
          </a:bodyPr>
          <a:lstStyle/>
          <a:p>
            <a:pPr>
              <a:lnSpc>
                <a:spcPct val="150000"/>
              </a:lnSpc>
            </a:pPr>
            <a:r>
              <a:rPr kumimoji="1" lang="en-US" altLang="ja-JP" sz="2000" dirty="0" smtClean="0">
                <a:latin typeface="BIZ UDPゴシック" panose="020B0400000000000000" pitchFamily="50" charset="-128"/>
                <a:ea typeface="BIZ UDPゴシック" panose="020B0400000000000000" pitchFamily="50" charset="-128"/>
              </a:rPr>
              <a:t>CServer.cpp</a:t>
            </a:r>
            <a:r>
              <a:rPr kumimoji="1" lang="ja-JP" altLang="en-US" sz="2000" dirty="0" smtClean="0">
                <a:latin typeface="BIZ UDPゴシック" panose="020B0400000000000000" pitchFamily="50" charset="-128"/>
                <a:ea typeface="BIZ UDPゴシック" panose="020B0400000000000000" pitchFamily="50" charset="-128"/>
              </a:rPr>
              <a:t>に追加</a:t>
            </a:r>
            <a:endParaRPr kumimoji="1" lang="ja-JP" altLang="en-US" sz="2000" dirty="0">
              <a:latin typeface="BIZ UDPゴシック" panose="020B0400000000000000" pitchFamily="50" charset="-128"/>
              <a:ea typeface="BIZ UDPゴシック" panose="020B0400000000000000" pitchFamily="50" charset="-128"/>
            </a:endParaRPr>
          </a:p>
        </p:txBody>
      </p:sp>
      <p:sp>
        <p:nvSpPr>
          <p:cNvPr id="6" name="テキスト ボックス 5"/>
          <p:cNvSpPr txBox="1"/>
          <p:nvPr/>
        </p:nvSpPr>
        <p:spPr>
          <a:xfrm>
            <a:off x="368490" y="5255575"/>
            <a:ext cx="7856638" cy="553998"/>
          </a:xfrm>
          <a:prstGeom prst="rect">
            <a:avLst/>
          </a:prstGeom>
          <a:noFill/>
        </p:spPr>
        <p:txBody>
          <a:bodyPr wrap="none" rtlCol="0">
            <a:spAutoFit/>
          </a:bodyPr>
          <a:lstStyle/>
          <a:p>
            <a:pPr>
              <a:lnSpc>
                <a:spcPct val="150000"/>
              </a:lnSpc>
            </a:pPr>
            <a:r>
              <a:rPr kumimoji="1" lang="en-US" altLang="ja-JP" sz="2000" dirty="0" smtClean="0">
                <a:latin typeface="BIZ UDPゴシック" panose="020B0400000000000000" pitchFamily="50" charset="-128"/>
                <a:ea typeface="BIZ UDPゴシック" panose="020B0400000000000000" pitchFamily="50" charset="-128"/>
              </a:rPr>
              <a:t>base</a:t>
            </a:r>
            <a:r>
              <a:rPr lang="ja-JP" altLang="en-US" sz="2000" dirty="0">
                <a:latin typeface="BIZ UDPゴシック" panose="020B0400000000000000" pitchFamily="50" charset="-128"/>
                <a:ea typeface="BIZ UDPゴシック" panose="020B0400000000000000" pitchFamily="50" charset="-128"/>
              </a:rPr>
              <a:t>に</a:t>
            </a:r>
            <a:r>
              <a:rPr lang="ja-JP" altLang="en-US" sz="2000" dirty="0" smtClean="0">
                <a:latin typeface="BIZ UDPゴシック" panose="020B0400000000000000" pitchFamily="50" charset="-128"/>
                <a:ea typeface="BIZ UDPゴシック" panose="020B0400000000000000" pitchFamily="50" charset="-128"/>
              </a:rPr>
              <a:t>ある、</a:t>
            </a:r>
            <a:r>
              <a:rPr lang="ja-JP" altLang="en-US" sz="2000" dirty="0">
                <a:latin typeface="BIZ UDPゴシック" panose="020B0400000000000000" pitchFamily="50" charset="-128"/>
                <a:ea typeface="BIZ UDPゴシック" panose="020B0400000000000000" pitchFamily="50" charset="-128"/>
              </a:rPr>
              <a:t>対象と</a:t>
            </a:r>
            <a:r>
              <a:rPr lang="ja-JP" altLang="en-US" sz="2000" dirty="0" smtClean="0">
                <a:latin typeface="BIZ UDPゴシック" panose="020B0400000000000000" pitchFamily="50" charset="-128"/>
                <a:ea typeface="BIZ UDPゴシック" panose="020B0400000000000000" pitchFamily="50" charset="-128"/>
              </a:rPr>
              <a:t>なる敵</a:t>
            </a:r>
            <a:r>
              <a:rPr lang="en-US" altLang="ja-JP" sz="2000" dirty="0" smtClean="0">
                <a:latin typeface="BIZ UDPゴシック" panose="020B0400000000000000" pitchFamily="50" charset="-128"/>
                <a:ea typeface="BIZ UDPゴシック" panose="020B0400000000000000" pitchFamily="50" charset="-128"/>
              </a:rPr>
              <a:t>ID</a:t>
            </a:r>
            <a:r>
              <a:rPr lang="ja-JP" altLang="en-US" sz="2000" dirty="0" smtClean="0">
                <a:latin typeface="BIZ UDPゴシック" panose="020B0400000000000000" pitchFamily="50" charset="-128"/>
                <a:ea typeface="BIZ UDPゴシック" panose="020B0400000000000000" pitchFamily="50" charset="-128"/>
              </a:rPr>
              <a:t>のオブジェクトデータについて集める</a:t>
            </a:r>
            <a:r>
              <a:rPr lang="ja-JP" altLang="en-US" sz="2000" dirty="0">
                <a:latin typeface="BIZ UDPゴシック" panose="020B0400000000000000" pitchFamily="50" charset="-128"/>
                <a:ea typeface="BIZ UDPゴシック" panose="020B0400000000000000" pitchFamily="50" charset="-128"/>
              </a:rPr>
              <a:t>。</a:t>
            </a:r>
            <a:endParaRPr lang="en-US" altLang="ja-JP" sz="2000" dirty="0" smtClea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1742470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368490" y="167719"/>
            <a:ext cx="11705448" cy="2862322"/>
          </a:xfrm>
          <a:prstGeom prst="rect">
            <a:avLst/>
          </a:prstGeom>
          <a:noFill/>
        </p:spPr>
        <p:txBody>
          <a:bodyPr wrap="none" rtlCol="0">
            <a:spAutoFit/>
          </a:bodyPr>
          <a:lstStyle/>
          <a:p>
            <a:pPr>
              <a:lnSpc>
                <a:spcPct val="150000"/>
              </a:lnSpc>
            </a:pPr>
            <a:r>
              <a:rPr lang="ja-JP" altLang="en-US" sz="2000" dirty="0" smtClean="0">
                <a:latin typeface="BIZ UDPゴシック" panose="020B0400000000000000" pitchFamily="50" charset="-128"/>
                <a:ea typeface="BIZ UDPゴシック" panose="020B0400000000000000" pitchFamily="50" charset="-128"/>
              </a:rPr>
              <a:t>クライアントで、敵がスポーンしないように、クライアントのスポーン処理を削除する。</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クライアント側のスポーンクラスは、描画だけになる。</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kumimoji="1" lang="ja-JP" altLang="en-US" sz="2000" dirty="0" smtClean="0">
                <a:latin typeface="BIZ UDPゴシック" panose="020B0400000000000000" pitchFamily="50" charset="-128"/>
                <a:ea typeface="BIZ UDPゴシック" panose="020B0400000000000000" pitchFamily="50" charset="-128"/>
              </a:rPr>
              <a:t>　今回は、</a:t>
            </a:r>
            <a:r>
              <a:rPr lang="en-US" altLang="ja-JP" sz="2000" dirty="0" err="1" smtClean="0">
                <a:latin typeface="BIZ UDPゴシック" panose="020B0400000000000000" pitchFamily="50" charset="-128"/>
                <a:ea typeface="BIZ UDPゴシック" panose="020B0400000000000000" pitchFamily="50" charset="-128"/>
              </a:rPr>
              <a:t>CMap</a:t>
            </a:r>
            <a:r>
              <a:rPr lang="ja-JP" altLang="en-US" sz="2000" dirty="0" smtClean="0">
                <a:latin typeface="BIZ UDPゴシック" panose="020B0400000000000000" pitchFamily="50" charset="-128"/>
                <a:ea typeface="BIZ UDPゴシック" panose="020B0400000000000000" pitchFamily="50" charset="-128"/>
              </a:rPr>
              <a:t>でスポーンの位置については、配列データから描画していますが、スポーンポイントに</a:t>
            </a:r>
            <a:r>
              <a:rPr lang="ja-JP" altLang="en-US" sz="2000" dirty="0" err="1" smtClean="0">
                <a:latin typeface="BIZ UDPゴシック" panose="020B0400000000000000" pitchFamily="50" charset="-128"/>
                <a:ea typeface="BIZ UDPゴシック" panose="020B0400000000000000" pitchFamily="50" charset="-128"/>
              </a:rPr>
              <a:t>つ</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いて</a:t>
            </a:r>
            <a:r>
              <a:rPr lang="ja-JP" altLang="en-US" sz="2000" dirty="0">
                <a:latin typeface="BIZ UDPゴシック" panose="020B0400000000000000" pitchFamily="50" charset="-128"/>
                <a:ea typeface="BIZ UDPゴシック" panose="020B0400000000000000" pitchFamily="50" charset="-128"/>
              </a:rPr>
              <a:t>は</a:t>
            </a:r>
            <a:r>
              <a:rPr lang="ja-JP" altLang="en-US" sz="2000" dirty="0" smtClean="0">
                <a:latin typeface="BIZ UDPゴシック" panose="020B0400000000000000" pitchFamily="50" charset="-128"/>
                <a:ea typeface="BIZ UDPゴシック" panose="020B0400000000000000" pitchFamily="50" charset="-128"/>
              </a:rPr>
              <a:t>、別のオブジェクトとして取り扱っているので、</a:t>
            </a:r>
            <a:r>
              <a:rPr lang="en-US" altLang="ja-JP" sz="2000" dirty="0" err="1" smtClean="0">
                <a:latin typeface="BIZ UDPゴシック" panose="020B0400000000000000" pitchFamily="50" charset="-128"/>
                <a:ea typeface="BIZ UDPゴシック" panose="020B0400000000000000" pitchFamily="50" charset="-128"/>
              </a:rPr>
              <a:t>CMap</a:t>
            </a:r>
            <a:r>
              <a:rPr lang="ja-JP" altLang="en-US" sz="2000" dirty="0" err="1" smtClean="0">
                <a:latin typeface="BIZ UDPゴシック" panose="020B0400000000000000" pitchFamily="50" charset="-128"/>
                <a:ea typeface="BIZ UDPゴシック" panose="020B0400000000000000" pitchFamily="50" charset="-128"/>
              </a:rPr>
              <a:t>で描</a:t>
            </a:r>
            <a:r>
              <a:rPr lang="ja-JP" altLang="en-US" sz="2000" dirty="0" smtClean="0">
                <a:latin typeface="BIZ UDPゴシック" panose="020B0400000000000000" pitchFamily="50" charset="-128"/>
                <a:ea typeface="BIZ UDPゴシック" panose="020B0400000000000000" pitchFamily="50" charset="-128"/>
              </a:rPr>
              <a:t>画せずに、</a:t>
            </a:r>
            <a:r>
              <a:rPr lang="en-US" altLang="ja-JP" sz="2000" dirty="0" err="1" smtClean="0">
                <a:latin typeface="BIZ UDPゴシック" panose="020B0400000000000000" pitchFamily="50" charset="-128"/>
                <a:ea typeface="BIZ UDPゴシック" panose="020B0400000000000000" pitchFamily="50" charset="-128"/>
              </a:rPr>
              <a:t>CSpawnPoint</a:t>
            </a:r>
            <a:r>
              <a:rPr lang="ja-JP" altLang="en-US" sz="2000" dirty="0" smtClean="0">
                <a:latin typeface="BIZ UDPゴシック" panose="020B0400000000000000" pitchFamily="50" charset="-128"/>
                <a:ea typeface="BIZ UDPゴシック" panose="020B0400000000000000" pitchFamily="50" charset="-128"/>
              </a:rPr>
              <a:t>クラスで描</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画させる事もできます。今回は、クライアント側では、特に処理をしないので、</a:t>
            </a:r>
            <a:r>
              <a:rPr lang="en-US" altLang="ja-JP" sz="2000" dirty="0" err="1" smtClean="0">
                <a:latin typeface="BIZ UDPゴシック" panose="020B0400000000000000" pitchFamily="50" charset="-128"/>
                <a:ea typeface="BIZ UDPゴシック" panose="020B0400000000000000" pitchFamily="50" charset="-128"/>
              </a:rPr>
              <a:t>CSpawnPoint</a:t>
            </a:r>
            <a:r>
              <a:rPr lang="ja-JP" altLang="en-US" sz="2000" dirty="0" smtClean="0">
                <a:latin typeface="BIZ UDPゴシック" panose="020B0400000000000000" pitchFamily="50" charset="-128"/>
                <a:ea typeface="BIZ UDPゴシック" panose="020B0400000000000000" pitchFamily="50" charset="-128"/>
              </a:rPr>
              <a:t>クラスは、</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次のようになります。</a:t>
            </a:r>
            <a:endParaRPr lang="en-US" altLang="ja-JP" sz="2000" dirty="0" smtClean="0">
              <a:latin typeface="BIZ UDPゴシック" panose="020B0400000000000000" pitchFamily="50" charset="-128"/>
              <a:ea typeface="BIZ UDPゴシック" panose="020B0400000000000000" pitchFamily="50" charset="-128"/>
            </a:endParaRPr>
          </a:p>
        </p:txBody>
      </p:sp>
      <p:pic>
        <p:nvPicPr>
          <p:cNvPr id="6" name="図 5"/>
          <p:cNvPicPr>
            <a:picLocks noChangeAspect="1"/>
          </p:cNvPicPr>
          <p:nvPr/>
        </p:nvPicPr>
        <p:blipFill>
          <a:blip r:embed="rId2"/>
          <a:stretch>
            <a:fillRect/>
          </a:stretch>
        </p:blipFill>
        <p:spPr>
          <a:xfrm>
            <a:off x="1901869" y="3030041"/>
            <a:ext cx="7030217" cy="3574351"/>
          </a:xfrm>
          <a:prstGeom prst="rect">
            <a:avLst/>
          </a:prstGeom>
        </p:spPr>
      </p:pic>
      <p:sp>
        <p:nvSpPr>
          <p:cNvPr id="8" name="テキスト ボックス 7"/>
          <p:cNvSpPr txBox="1"/>
          <p:nvPr/>
        </p:nvSpPr>
        <p:spPr>
          <a:xfrm>
            <a:off x="5416977" y="3267619"/>
            <a:ext cx="2527822"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dirty="0" smtClean="0">
                <a:latin typeface="BIZ UDPゴシック" panose="020B0400000000000000" pitchFamily="50" charset="-128"/>
                <a:ea typeface="BIZ UDPゴシック" panose="020B0400000000000000" pitchFamily="50" charset="-128"/>
              </a:rPr>
              <a:t>特に何も処理はしない。</a:t>
            </a:r>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97974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p:cNvSpPr txBox="1"/>
          <p:nvPr/>
        </p:nvSpPr>
        <p:spPr>
          <a:xfrm>
            <a:off x="157474" y="63826"/>
            <a:ext cx="4818948" cy="40011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ja-JP" altLang="en-US" sz="2000" dirty="0" smtClean="0">
                <a:latin typeface="BIZ UDPゴシック" panose="020B0400000000000000" pitchFamily="50" charset="-128"/>
                <a:ea typeface="BIZ UDPゴシック" panose="020B0400000000000000" pitchFamily="50" charset="-128"/>
              </a:rPr>
              <a:t>クライアントの通信処理について一部修正</a:t>
            </a:r>
            <a:endParaRPr lang="en-US" altLang="ja-JP" sz="2000" dirty="0" smtClean="0">
              <a:latin typeface="BIZ UDPゴシック" panose="020B0400000000000000" pitchFamily="50" charset="-128"/>
              <a:ea typeface="BIZ UDPゴシック" panose="020B0400000000000000" pitchFamily="50" charset="-128"/>
            </a:endParaRPr>
          </a:p>
        </p:txBody>
      </p:sp>
      <p:pic>
        <p:nvPicPr>
          <p:cNvPr id="8" name="図 7"/>
          <p:cNvPicPr>
            <a:picLocks noChangeAspect="1"/>
          </p:cNvPicPr>
          <p:nvPr/>
        </p:nvPicPr>
        <p:blipFill>
          <a:blip r:embed="rId2"/>
          <a:stretch>
            <a:fillRect/>
          </a:stretch>
        </p:blipFill>
        <p:spPr>
          <a:xfrm>
            <a:off x="157474" y="997693"/>
            <a:ext cx="6201123" cy="5799389"/>
          </a:xfrm>
          <a:prstGeom prst="rect">
            <a:avLst/>
          </a:prstGeom>
        </p:spPr>
      </p:pic>
      <p:sp>
        <p:nvSpPr>
          <p:cNvPr id="5" name="テキスト ボックス 4"/>
          <p:cNvSpPr txBox="1"/>
          <p:nvPr/>
        </p:nvSpPr>
        <p:spPr>
          <a:xfrm>
            <a:off x="2124606" y="2808848"/>
            <a:ext cx="697627" cy="40011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ja-JP" altLang="en-US" sz="2000" dirty="0">
                <a:latin typeface="BIZ UDPゴシック" panose="020B0400000000000000" pitchFamily="50" charset="-128"/>
                <a:ea typeface="BIZ UDPゴシック" panose="020B0400000000000000" pitchFamily="50" charset="-128"/>
              </a:rPr>
              <a:t>削除</a:t>
            </a:r>
            <a:endParaRPr lang="en-US" altLang="ja-JP" sz="2000" dirty="0" smtClean="0">
              <a:latin typeface="BIZ UDPゴシック" panose="020B0400000000000000" pitchFamily="50" charset="-128"/>
              <a:ea typeface="BIZ UDPゴシック" panose="020B0400000000000000" pitchFamily="50" charset="-128"/>
            </a:endParaRPr>
          </a:p>
        </p:txBody>
      </p:sp>
      <p:sp>
        <p:nvSpPr>
          <p:cNvPr id="6" name="テキスト ボックス 5"/>
          <p:cNvSpPr txBox="1"/>
          <p:nvPr/>
        </p:nvSpPr>
        <p:spPr>
          <a:xfrm>
            <a:off x="1775792" y="5605974"/>
            <a:ext cx="697627" cy="40011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ja-JP" altLang="en-US" sz="2000" dirty="0" smtClean="0">
                <a:latin typeface="BIZ UDPゴシック" panose="020B0400000000000000" pitchFamily="50" charset="-128"/>
                <a:ea typeface="BIZ UDPゴシック" panose="020B0400000000000000" pitchFamily="50" charset="-128"/>
              </a:rPr>
              <a:t>変更</a:t>
            </a:r>
            <a:endParaRPr lang="en-US" altLang="ja-JP" sz="2000" dirty="0" smtClean="0">
              <a:latin typeface="BIZ UDPゴシック" panose="020B0400000000000000" pitchFamily="50" charset="-128"/>
              <a:ea typeface="BIZ UDPゴシック" panose="020B0400000000000000" pitchFamily="50" charset="-128"/>
            </a:endParaRPr>
          </a:p>
        </p:txBody>
      </p:sp>
      <p:sp>
        <p:nvSpPr>
          <p:cNvPr id="9" name="テキスト ボックス 8"/>
          <p:cNvSpPr txBox="1"/>
          <p:nvPr/>
        </p:nvSpPr>
        <p:spPr>
          <a:xfrm>
            <a:off x="4976422" y="2801414"/>
            <a:ext cx="7112845" cy="1938992"/>
          </a:xfrm>
          <a:prstGeom prst="rect">
            <a:avLst/>
          </a:prstGeom>
          <a:ln/>
        </p:spPr>
        <p:style>
          <a:lnRef idx="2">
            <a:schemeClr val="dk1"/>
          </a:lnRef>
          <a:fillRef idx="1">
            <a:schemeClr val="lt1"/>
          </a:fillRef>
          <a:effectRef idx="0">
            <a:schemeClr val="dk1"/>
          </a:effectRef>
          <a:fontRef idx="minor">
            <a:schemeClr val="dk1"/>
          </a:fontRef>
        </p:style>
        <p:txBody>
          <a:bodyPr wrap="none" rtlCol="0">
            <a:spAutoFit/>
          </a:bodyPr>
          <a:lstStyle/>
          <a:p>
            <a:r>
              <a:rPr lang="ja-JP" altLang="en-US" sz="2000" dirty="0" smtClean="0">
                <a:latin typeface="BIZ UDPゴシック" panose="020B0400000000000000" pitchFamily="50" charset="-128"/>
                <a:ea typeface="BIZ UDPゴシック" panose="020B0400000000000000" pitchFamily="50" charset="-128"/>
              </a:rPr>
              <a:t>クライアントの通信について、ここで整理する。</a:t>
            </a:r>
            <a:endParaRPr lang="en-US" altLang="ja-JP" sz="2000" dirty="0" smtClean="0">
              <a:latin typeface="BIZ UDPゴシック" panose="020B0400000000000000" pitchFamily="50" charset="-128"/>
              <a:ea typeface="BIZ UDPゴシック" panose="020B0400000000000000" pitchFamily="50" charset="-128"/>
            </a:endParaRPr>
          </a:p>
          <a:p>
            <a:endParaRPr lang="en-US" altLang="ja-JP" sz="2000" dirty="0">
              <a:latin typeface="BIZ UDPゴシック" panose="020B0400000000000000" pitchFamily="50" charset="-128"/>
              <a:ea typeface="BIZ UDPゴシック" panose="020B0400000000000000" pitchFamily="50" charset="-128"/>
            </a:endParaRPr>
          </a:p>
          <a:p>
            <a:r>
              <a:rPr lang="ja-JP" altLang="en-US" sz="2000" dirty="0" smtClean="0">
                <a:latin typeface="BIZ UDPゴシック" panose="020B0400000000000000" pitchFamily="50" charset="-128"/>
                <a:ea typeface="BIZ UDPゴシック" panose="020B0400000000000000" pitchFamily="50" charset="-128"/>
              </a:rPr>
              <a:t>サーバーと同じ仕組みにしているが、処理を一部修正。</a:t>
            </a:r>
            <a:endParaRPr lang="en-US" altLang="ja-JP" sz="2000" dirty="0" smtClean="0">
              <a:latin typeface="BIZ UDPゴシック" panose="020B0400000000000000" pitchFamily="50" charset="-128"/>
              <a:ea typeface="BIZ UDPゴシック" panose="020B0400000000000000" pitchFamily="50" charset="-128"/>
            </a:endParaRPr>
          </a:p>
          <a:p>
            <a:endParaRPr lang="en-US" altLang="ja-JP" sz="2000" dirty="0">
              <a:latin typeface="BIZ UDPゴシック" panose="020B0400000000000000" pitchFamily="50" charset="-128"/>
              <a:ea typeface="BIZ UDPゴシック" panose="020B0400000000000000" pitchFamily="50" charset="-128"/>
            </a:endParaRPr>
          </a:p>
          <a:p>
            <a:r>
              <a:rPr lang="ja-JP" altLang="en-US" sz="2000" dirty="0" smtClean="0">
                <a:latin typeface="BIZ UDPゴシック" panose="020B0400000000000000" pitchFamily="50" charset="-128"/>
                <a:ea typeface="BIZ UDPゴシック" panose="020B0400000000000000" pitchFamily="50" charset="-128"/>
              </a:rPr>
              <a:t>サーバーの</a:t>
            </a:r>
            <a:r>
              <a:rPr lang="en-US" altLang="ja-JP" sz="2000" dirty="0" err="1" smtClean="0">
                <a:latin typeface="BIZ UDPゴシック" panose="020B0400000000000000" pitchFamily="50" charset="-128"/>
                <a:ea typeface="BIZ UDPゴシック" panose="020B0400000000000000" pitchFamily="50" charset="-128"/>
              </a:rPr>
              <a:t>CPlayerInfo</a:t>
            </a:r>
            <a:r>
              <a:rPr lang="ja-JP" altLang="en-US" sz="2000" dirty="0" smtClean="0">
                <a:latin typeface="BIZ UDPゴシック" panose="020B0400000000000000" pitchFamily="50" charset="-128"/>
                <a:ea typeface="BIZ UDPゴシック" panose="020B0400000000000000" pitchFamily="50" charset="-128"/>
              </a:rPr>
              <a:t>は「プレイヤーごとに通信ハンドルを</a:t>
            </a:r>
            <a:endParaRPr lang="en-US" altLang="ja-JP" sz="2000" dirty="0" smtClean="0">
              <a:latin typeface="BIZ UDPゴシック" panose="020B0400000000000000" pitchFamily="50" charset="-128"/>
              <a:ea typeface="BIZ UDPゴシック" panose="020B0400000000000000" pitchFamily="50" charset="-128"/>
            </a:endParaRPr>
          </a:p>
          <a:p>
            <a:r>
              <a:rPr lang="ja-JP" altLang="en-US" sz="2000" dirty="0" smtClean="0">
                <a:latin typeface="BIZ UDPゴシック" panose="020B0400000000000000" pitchFamily="50" charset="-128"/>
                <a:ea typeface="BIZ UDPゴシック" panose="020B0400000000000000" pitchFamily="50" charset="-128"/>
              </a:rPr>
              <a:t>持つ必要がある」が、クライアントでは、今のところ不要。</a:t>
            </a:r>
            <a:endParaRPr lang="en-US" altLang="ja-JP" sz="2000" dirty="0" smtClean="0">
              <a:latin typeface="BIZ UDPゴシック" panose="020B0400000000000000" pitchFamily="50" charset="-128"/>
              <a:ea typeface="BIZ UDPゴシック" panose="020B0400000000000000" pitchFamily="50" charset="-128"/>
            </a:endParaRPr>
          </a:p>
        </p:txBody>
      </p:sp>
      <p:sp>
        <p:nvSpPr>
          <p:cNvPr id="10" name="テキスト ボックス 9"/>
          <p:cNvSpPr txBox="1"/>
          <p:nvPr/>
        </p:nvSpPr>
        <p:spPr>
          <a:xfrm>
            <a:off x="157474" y="597583"/>
            <a:ext cx="1250663" cy="400110"/>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rtlCol="0">
            <a:spAutoFit/>
          </a:bodyPr>
          <a:lstStyle/>
          <a:p>
            <a:r>
              <a:rPr lang="en-US" altLang="ja-JP" sz="2000" dirty="0" err="1" smtClean="0">
                <a:latin typeface="BIZ UDPゴシック" panose="020B0400000000000000" pitchFamily="50" charset="-128"/>
                <a:ea typeface="BIZ UDPゴシック" panose="020B0400000000000000" pitchFamily="50" charset="-128"/>
              </a:rPr>
              <a:t>client.h</a:t>
            </a:r>
            <a:endParaRPr lang="en-US" altLang="ja-JP" sz="2000" dirty="0" smtClea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855196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a:blip r:embed="rId2"/>
          <a:stretch>
            <a:fillRect/>
          </a:stretch>
        </p:blipFill>
        <p:spPr>
          <a:xfrm>
            <a:off x="281738" y="914557"/>
            <a:ext cx="7937529" cy="4754723"/>
          </a:xfrm>
          <a:prstGeom prst="rect">
            <a:avLst/>
          </a:prstGeom>
        </p:spPr>
      </p:pic>
      <p:sp>
        <p:nvSpPr>
          <p:cNvPr id="5" name="テキスト ボックス 4"/>
          <p:cNvSpPr txBox="1"/>
          <p:nvPr/>
        </p:nvSpPr>
        <p:spPr>
          <a:xfrm>
            <a:off x="281738" y="6062585"/>
            <a:ext cx="4020652" cy="400110"/>
          </a:xfrm>
          <a:prstGeom prst="rect">
            <a:avLst/>
          </a:prstGeom>
          <a:ln>
            <a:noFill/>
          </a:ln>
        </p:spPr>
        <p:style>
          <a:lnRef idx="2">
            <a:schemeClr val="dk1"/>
          </a:lnRef>
          <a:fillRef idx="1">
            <a:schemeClr val="lt1"/>
          </a:fillRef>
          <a:effectRef idx="0">
            <a:schemeClr val="dk1"/>
          </a:effectRef>
          <a:fontRef idx="minor">
            <a:schemeClr val="dk1"/>
          </a:fontRef>
        </p:style>
        <p:txBody>
          <a:bodyPr wrap="none" rtlCol="0">
            <a:spAutoFit/>
          </a:bodyPr>
          <a:lstStyle/>
          <a:p>
            <a:r>
              <a:rPr lang="ja-JP" altLang="en-US" sz="2000" dirty="0" smtClean="0">
                <a:latin typeface="BIZ UDPゴシック" panose="020B0400000000000000" pitchFamily="50" charset="-128"/>
                <a:ea typeface="BIZ UDPゴシック" panose="020B0400000000000000" pitchFamily="50" charset="-128"/>
              </a:rPr>
              <a:t>修正ができたら、動作確認をする。</a:t>
            </a:r>
            <a:endParaRPr lang="en-US" altLang="ja-JP" sz="2000" dirty="0" smtClean="0">
              <a:latin typeface="BIZ UDPゴシック" panose="020B0400000000000000" pitchFamily="50" charset="-128"/>
              <a:ea typeface="BIZ UDPゴシック" panose="020B0400000000000000" pitchFamily="50" charset="-128"/>
            </a:endParaRPr>
          </a:p>
        </p:txBody>
      </p:sp>
      <p:sp>
        <p:nvSpPr>
          <p:cNvPr id="6" name="テキスト ボックス 5"/>
          <p:cNvSpPr txBox="1"/>
          <p:nvPr/>
        </p:nvSpPr>
        <p:spPr>
          <a:xfrm>
            <a:off x="281738" y="306554"/>
            <a:ext cx="5828840" cy="400110"/>
          </a:xfrm>
          <a:prstGeom prst="rect">
            <a:avLst/>
          </a:prstGeom>
          <a:ln>
            <a:noFill/>
          </a:ln>
        </p:spPr>
        <p:style>
          <a:lnRef idx="2">
            <a:schemeClr val="dk1"/>
          </a:lnRef>
          <a:fillRef idx="1">
            <a:schemeClr val="lt1"/>
          </a:fillRef>
          <a:effectRef idx="0">
            <a:schemeClr val="dk1"/>
          </a:effectRef>
          <a:fontRef idx="minor">
            <a:schemeClr val="dk1"/>
          </a:fontRef>
        </p:style>
        <p:txBody>
          <a:bodyPr wrap="none" rtlCol="0">
            <a:spAutoFit/>
          </a:bodyPr>
          <a:lstStyle/>
          <a:p>
            <a:r>
              <a:rPr lang="ja-JP" altLang="en-US" sz="2000" dirty="0" smtClean="0">
                <a:latin typeface="BIZ UDPゴシック" panose="020B0400000000000000" pitchFamily="50" charset="-128"/>
                <a:ea typeface="BIZ UDPゴシック" panose="020B0400000000000000" pitchFamily="50" charset="-128"/>
              </a:rPr>
              <a:t>クライアントの</a:t>
            </a:r>
            <a:r>
              <a:rPr lang="en-US" altLang="ja-JP" sz="2000" dirty="0" err="1" smtClean="0">
                <a:latin typeface="BIZ UDPゴシック" panose="020B0400000000000000" pitchFamily="50" charset="-128"/>
                <a:ea typeface="BIZ UDPゴシック" panose="020B0400000000000000" pitchFamily="50" charset="-128"/>
              </a:rPr>
              <a:t>CGame</a:t>
            </a:r>
            <a:r>
              <a:rPr lang="en-US" altLang="ja-JP" sz="2000" dirty="0" smtClean="0">
                <a:latin typeface="BIZ UDPゴシック" panose="020B0400000000000000" pitchFamily="50" charset="-128"/>
                <a:ea typeface="BIZ UDPゴシック" panose="020B0400000000000000" pitchFamily="50" charset="-128"/>
              </a:rPr>
              <a:t>::</a:t>
            </a:r>
            <a:r>
              <a:rPr lang="en-US" altLang="ja-JP" sz="2000" dirty="0" err="1" smtClean="0">
                <a:latin typeface="BIZ UDPゴシック" panose="020B0400000000000000" pitchFamily="50" charset="-128"/>
                <a:ea typeface="BIZ UDPゴシック" panose="020B0400000000000000" pitchFamily="50" charset="-128"/>
              </a:rPr>
              <a:t>Updata</a:t>
            </a:r>
            <a:r>
              <a:rPr lang="en-US" altLang="ja-JP" sz="2000" dirty="0" smtClean="0">
                <a:latin typeface="BIZ UDPゴシック" panose="020B0400000000000000" pitchFamily="50" charset="-128"/>
                <a:ea typeface="BIZ UDPゴシック" panose="020B0400000000000000" pitchFamily="50" charset="-128"/>
              </a:rPr>
              <a:t>( )</a:t>
            </a:r>
            <a:r>
              <a:rPr lang="ja-JP" altLang="en-US" sz="2000" dirty="0" smtClean="0">
                <a:latin typeface="BIZ UDPゴシック" panose="020B0400000000000000" pitchFamily="50" charset="-128"/>
                <a:ea typeface="BIZ UDPゴシック" panose="020B0400000000000000" pitchFamily="50" charset="-128"/>
              </a:rPr>
              <a:t>の処理を修正</a:t>
            </a:r>
            <a:endParaRPr lang="en-US" altLang="ja-JP" sz="2000" dirty="0" smtClea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3137619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340354" y="422030"/>
            <a:ext cx="7600157" cy="2783839"/>
          </a:xfrm>
          <a:prstGeom prst="rect">
            <a:avLst/>
          </a:prstGeom>
          <a:noFill/>
        </p:spPr>
        <p:txBody>
          <a:bodyPr wrap="none" rtlCol="0">
            <a:spAutoFit/>
          </a:bodyPr>
          <a:lstStyle/>
          <a:p>
            <a:pPr>
              <a:lnSpc>
                <a:spcPct val="150000"/>
              </a:lnSpc>
            </a:pPr>
            <a:r>
              <a:rPr lang="ja-JP" altLang="en-US" sz="2000" dirty="0" smtClean="0">
                <a:latin typeface="BIZ UDPゴシック" panose="020B0400000000000000" pitchFamily="50" charset="-128"/>
                <a:ea typeface="BIZ UDPゴシック" panose="020B0400000000000000" pitchFamily="50" charset="-128"/>
              </a:rPr>
              <a:t>ここまでで、実行して状況確認</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en-US" altLang="ja-JP" sz="2000" dirty="0" smtClean="0">
                <a:latin typeface="BIZ UDPゴシック" panose="020B0400000000000000" pitchFamily="50" charset="-128"/>
                <a:ea typeface="BIZ UDPゴシック" panose="020B0400000000000000" pitchFamily="50" charset="-128"/>
              </a:rPr>
              <a:t>【</a:t>
            </a:r>
            <a:r>
              <a:rPr lang="ja-JP" altLang="en-US" sz="2000" dirty="0" smtClean="0">
                <a:latin typeface="BIZ UDPゴシック" panose="020B0400000000000000" pitchFamily="50" charset="-128"/>
                <a:ea typeface="BIZ UDPゴシック" panose="020B0400000000000000" pitchFamily="50" charset="-128"/>
              </a:rPr>
              <a:t>接続したすべてのプレイヤーの移動と攻撃まで出来る状態。</a:t>
            </a:r>
            <a:r>
              <a:rPr lang="en-US" altLang="ja-JP" sz="2000" dirty="0" smtClean="0">
                <a:latin typeface="BIZ UDPゴシック" panose="020B0400000000000000" pitchFamily="50" charset="-128"/>
                <a:ea typeface="BIZ UDPゴシック" panose="020B0400000000000000" pitchFamily="50" charset="-128"/>
              </a:rPr>
              <a:t>】</a:t>
            </a:r>
          </a:p>
          <a:p>
            <a:pPr>
              <a:lnSpc>
                <a:spcPct val="150000"/>
              </a:lnSpc>
            </a:pP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クライアント側では、敵が出現しない。</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a:latin typeface="BIZ UDPゴシック" panose="020B0400000000000000" pitchFamily="50" charset="-128"/>
                <a:ea typeface="BIZ UDPゴシック" panose="020B0400000000000000" pitchFamily="50" charset="-128"/>
              </a:rPr>
              <a:t>もし</a:t>
            </a:r>
            <a:r>
              <a:rPr lang="ja-JP" altLang="en-US" sz="2000" dirty="0" smtClean="0">
                <a:latin typeface="BIZ UDPゴシック" panose="020B0400000000000000" pitchFamily="50" charset="-128"/>
                <a:ea typeface="BIZ UDPゴシック" panose="020B0400000000000000" pitchFamily="50" charset="-128"/>
              </a:rPr>
              <a:t>、攻撃処理が見えないなど、</a:t>
            </a:r>
            <a:r>
              <a:rPr lang="ja-JP" altLang="en-US" sz="2000" b="1" dirty="0" smtClean="0">
                <a:solidFill>
                  <a:srgbClr val="FF0000"/>
                </a:solidFill>
                <a:latin typeface="BIZ UDPゴシック" panose="020B0400000000000000" pitchFamily="50" charset="-128"/>
                <a:ea typeface="BIZ UDPゴシック" panose="020B0400000000000000" pitchFamily="50" charset="-128"/>
              </a:rPr>
              <a:t>バグがある場合は、全て修正</a:t>
            </a:r>
            <a:r>
              <a:rPr lang="ja-JP" altLang="en-US" sz="2000" dirty="0" smtClean="0">
                <a:latin typeface="BIZ UDPゴシック" panose="020B0400000000000000" pitchFamily="50" charset="-128"/>
                <a:ea typeface="BIZ UDPゴシック" panose="020B0400000000000000" pitchFamily="50" charset="-128"/>
              </a:rPr>
              <a:t>する。</a:t>
            </a:r>
            <a:endParaRPr lang="en-US" altLang="ja-JP" sz="2000" dirty="0" smtClea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4668324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290129" y="214187"/>
            <a:ext cx="5682966" cy="553998"/>
          </a:xfrm>
          <a:prstGeom prst="rect">
            <a:avLst/>
          </a:prstGeom>
          <a:noFill/>
        </p:spPr>
        <p:txBody>
          <a:bodyPr wrap="none" rtlCol="0">
            <a:spAutoFit/>
          </a:bodyPr>
          <a:lstStyle/>
          <a:p>
            <a:pPr>
              <a:lnSpc>
                <a:spcPct val="150000"/>
              </a:lnSpc>
            </a:pPr>
            <a:r>
              <a:rPr lang="ja-JP" altLang="en-US" sz="2000" dirty="0" smtClean="0">
                <a:latin typeface="BIZ UDPゴシック" panose="020B0400000000000000" pitchFamily="50" charset="-128"/>
                <a:ea typeface="BIZ UDPゴシック" panose="020B0400000000000000" pitchFamily="50" charset="-128"/>
              </a:rPr>
              <a:t>敵の情報をクライアントで受け取って処理をする。</a:t>
            </a:r>
            <a:endParaRPr lang="en-US" altLang="ja-JP" sz="2000" dirty="0" smtClean="0">
              <a:latin typeface="BIZ UDPゴシック" panose="020B0400000000000000" pitchFamily="50" charset="-128"/>
              <a:ea typeface="BIZ UDPゴシック" panose="020B0400000000000000" pitchFamily="50" charset="-128"/>
            </a:endParaRPr>
          </a:p>
        </p:txBody>
      </p:sp>
      <p:sp>
        <p:nvSpPr>
          <p:cNvPr id="5" name="テキスト ボックス 4"/>
          <p:cNvSpPr txBox="1"/>
          <p:nvPr/>
        </p:nvSpPr>
        <p:spPr>
          <a:xfrm>
            <a:off x="290129" y="768185"/>
            <a:ext cx="3461204" cy="553998"/>
          </a:xfrm>
          <a:prstGeom prst="rect">
            <a:avLst/>
          </a:prstGeom>
          <a:noFill/>
        </p:spPr>
        <p:txBody>
          <a:bodyPr wrap="none" rtlCol="0">
            <a:spAutoFit/>
          </a:bodyPr>
          <a:lstStyle/>
          <a:p>
            <a:pPr>
              <a:lnSpc>
                <a:spcPct val="150000"/>
              </a:lnSpc>
            </a:pPr>
            <a:r>
              <a:rPr lang="en-US" altLang="ja-JP" sz="2000" dirty="0" err="1" smtClean="0">
                <a:latin typeface="BIZ UDPゴシック" panose="020B0400000000000000" pitchFamily="50" charset="-128"/>
                <a:ea typeface="BIZ UDPゴシック" panose="020B0400000000000000" pitchFamily="50" charset="-128"/>
              </a:rPr>
              <a:t>CClient</a:t>
            </a:r>
            <a:r>
              <a:rPr lang="ja-JP" altLang="en-US" sz="2000" dirty="0" smtClean="0">
                <a:latin typeface="BIZ UDPゴシック" panose="020B0400000000000000" pitchFamily="50" charset="-128"/>
                <a:ea typeface="BIZ UDPゴシック" panose="020B0400000000000000" pitchFamily="50" charset="-128"/>
              </a:rPr>
              <a:t>クラスに変数を追加</a:t>
            </a:r>
            <a:endParaRPr lang="en-US" altLang="ja-JP" sz="2000" dirty="0" smtClean="0">
              <a:latin typeface="BIZ UDPゴシック" panose="020B0400000000000000" pitchFamily="50" charset="-128"/>
              <a:ea typeface="BIZ UDPゴシック" panose="020B0400000000000000" pitchFamily="50" charset="-128"/>
            </a:endParaRPr>
          </a:p>
        </p:txBody>
      </p:sp>
      <p:pic>
        <p:nvPicPr>
          <p:cNvPr id="6" name="図 5"/>
          <p:cNvPicPr>
            <a:picLocks noChangeAspect="1"/>
          </p:cNvPicPr>
          <p:nvPr/>
        </p:nvPicPr>
        <p:blipFill>
          <a:blip r:embed="rId2"/>
          <a:stretch>
            <a:fillRect/>
          </a:stretch>
        </p:blipFill>
        <p:spPr>
          <a:xfrm>
            <a:off x="290129" y="1322183"/>
            <a:ext cx="5006144" cy="4322379"/>
          </a:xfrm>
          <a:prstGeom prst="rect">
            <a:avLst/>
          </a:prstGeom>
        </p:spPr>
      </p:pic>
      <p:sp>
        <p:nvSpPr>
          <p:cNvPr id="7" name="テキスト ボックス 6"/>
          <p:cNvSpPr txBox="1"/>
          <p:nvPr/>
        </p:nvSpPr>
        <p:spPr>
          <a:xfrm>
            <a:off x="4624778" y="3609065"/>
            <a:ext cx="1649413"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dirty="0">
                <a:latin typeface="BIZ UDPゴシック" panose="020B0400000000000000" pitchFamily="50" charset="-128"/>
                <a:ea typeface="BIZ UDPゴシック" panose="020B0400000000000000" pitchFamily="50" charset="-128"/>
              </a:rPr>
              <a:t>敵</a:t>
            </a:r>
            <a:r>
              <a:rPr lang="ja-JP" altLang="en-US" dirty="0" smtClean="0">
                <a:latin typeface="BIZ UDPゴシック" panose="020B0400000000000000" pitchFamily="50" charset="-128"/>
                <a:ea typeface="BIZ UDPゴシック" panose="020B0400000000000000" pitchFamily="50" charset="-128"/>
              </a:rPr>
              <a:t>の情報管理</a:t>
            </a:r>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3823947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p:cNvPicPr>
            <a:picLocks noChangeAspect="1"/>
          </p:cNvPicPr>
          <p:nvPr/>
        </p:nvPicPr>
        <p:blipFill>
          <a:blip r:embed="rId2"/>
          <a:stretch>
            <a:fillRect/>
          </a:stretch>
        </p:blipFill>
        <p:spPr>
          <a:xfrm>
            <a:off x="157024" y="769673"/>
            <a:ext cx="8798309" cy="5630918"/>
          </a:xfrm>
          <a:prstGeom prst="rect">
            <a:avLst/>
          </a:prstGeom>
        </p:spPr>
      </p:pic>
      <p:sp>
        <p:nvSpPr>
          <p:cNvPr id="5" name="テキスト ボックス 4"/>
          <p:cNvSpPr txBox="1"/>
          <p:nvPr/>
        </p:nvSpPr>
        <p:spPr>
          <a:xfrm>
            <a:off x="295420" y="215675"/>
            <a:ext cx="4378122" cy="553998"/>
          </a:xfrm>
          <a:prstGeom prst="rect">
            <a:avLst/>
          </a:prstGeom>
          <a:noFill/>
        </p:spPr>
        <p:txBody>
          <a:bodyPr wrap="none" rtlCol="0">
            <a:spAutoFit/>
          </a:bodyPr>
          <a:lstStyle/>
          <a:p>
            <a:pPr>
              <a:lnSpc>
                <a:spcPct val="150000"/>
              </a:lnSpc>
            </a:pPr>
            <a:r>
              <a:rPr lang="en-US" altLang="ja-JP" sz="2000" dirty="0" err="1" smtClean="0">
                <a:latin typeface="BIZ UDPゴシック" panose="020B0400000000000000" pitchFamily="50" charset="-128"/>
                <a:ea typeface="BIZ UDPゴシック" panose="020B0400000000000000" pitchFamily="50" charset="-128"/>
              </a:rPr>
              <a:t>CClient</a:t>
            </a:r>
            <a:r>
              <a:rPr lang="en-US" altLang="ja-JP" sz="2000" dirty="0" smtClean="0">
                <a:latin typeface="BIZ UDPゴシック" panose="020B0400000000000000" pitchFamily="50" charset="-128"/>
                <a:ea typeface="BIZ UDPゴシック" panose="020B0400000000000000" pitchFamily="50" charset="-128"/>
              </a:rPr>
              <a:t>::Receive( )</a:t>
            </a:r>
            <a:r>
              <a:rPr lang="ja-JP" altLang="en-US" sz="2000" dirty="0" smtClean="0">
                <a:latin typeface="BIZ UDPゴシック" panose="020B0400000000000000" pitchFamily="50" charset="-128"/>
                <a:ea typeface="BIZ UDPゴシック" panose="020B0400000000000000" pitchFamily="50" charset="-128"/>
              </a:rPr>
              <a:t>に処理を追加</a:t>
            </a:r>
            <a:endParaRPr lang="en-US" altLang="ja-JP" sz="2000" dirty="0" smtClean="0">
              <a:latin typeface="BIZ UDPゴシック" panose="020B0400000000000000" pitchFamily="50" charset="-128"/>
              <a:ea typeface="BIZ UDPゴシック" panose="020B0400000000000000" pitchFamily="50" charset="-128"/>
            </a:endParaRPr>
          </a:p>
        </p:txBody>
      </p:sp>
      <p:sp>
        <p:nvSpPr>
          <p:cNvPr id="6" name="テキスト ボックス 5"/>
          <p:cNvSpPr txBox="1"/>
          <p:nvPr/>
        </p:nvSpPr>
        <p:spPr>
          <a:xfrm>
            <a:off x="5636372" y="5565754"/>
            <a:ext cx="2479408"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dirty="0" smtClean="0">
                <a:latin typeface="BIZ UDPゴシック" panose="020B0400000000000000" pitchFamily="50" charset="-128"/>
                <a:ea typeface="BIZ UDPゴシック" panose="020B0400000000000000" pitchFamily="50" charset="-128"/>
              </a:rPr>
              <a:t>受信したデータを更新</a:t>
            </a:r>
            <a:endParaRPr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5365524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290129" y="214187"/>
            <a:ext cx="6979796" cy="475515"/>
          </a:xfrm>
          <a:prstGeom prst="rect">
            <a:avLst/>
          </a:prstGeom>
          <a:noFill/>
        </p:spPr>
        <p:txBody>
          <a:bodyPr wrap="none" rtlCol="0">
            <a:spAutoFit/>
          </a:bodyPr>
          <a:lstStyle/>
          <a:p>
            <a:pPr>
              <a:lnSpc>
                <a:spcPct val="150000"/>
              </a:lnSpc>
            </a:pPr>
            <a:r>
              <a:rPr lang="ja-JP" altLang="en-US" sz="2000" dirty="0" smtClean="0">
                <a:latin typeface="BIZ UDPゴシック" panose="020B0400000000000000" pitchFamily="50" charset="-128"/>
                <a:ea typeface="BIZ UDPゴシック" panose="020B0400000000000000" pitchFamily="50" charset="-128"/>
              </a:rPr>
              <a:t>ここまでで、データがちゃんと送られているかチェックします。</a:t>
            </a:r>
            <a:endParaRPr lang="en-US" altLang="ja-JP" sz="2000" dirty="0" smtClean="0">
              <a:latin typeface="BIZ UDPゴシック" panose="020B0400000000000000" pitchFamily="50" charset="-128"/>
              <a:ea typeface="BIZ UDPゴシック" panose="020B0400000000000000" pitchFamily="50" charset="-128"/>
            </a:endParaRPr>
          </a:p>
        </p:txBody>
      </p:sp>
      <p:pic>
        <p:nvPicPr>
          <p:cNvPr id="5" name="図 4"/>
          <p:cNvPicPr>
            <a:picLocks noChangeAspect="1"/>
          </p:cNvPicPr>
          <p:nvPr/>
        </p:nvPicPr>
        <p:blipFill>
          <a:blip r:embed="rId2"/>
          <a:stretch>
            <a:fillRect/>
          </a:stretch>
        </p:blipFill>
        <p:spPr>
          <a:xfrm>
            <a:off x="155470" y="3743188"/>
            <a:ext cx="3459928" cy="2551893"/>
          </a:xfrm>
          <a:prstGeom prst="rect">
            <a:avLst/>
          </a:prstGeom>
        </p:spPr>
      </p:pic>
      <p:pic>
        <p:nvPicPr>
          <p:cNvPr id="6" name="図 5"/>
          <p:cNvPicPr>
            <a:picLocks noChangeAspect="1"/>
          </p:cNvPicPr>
          <p:nvPr/>
        </p:nvPicPr>
        <p:blipFill>
          <a:blip r:embed="rId3"/>
          <a:stretch>
            <a:fillRect/>
          </a:stretch>
        </p:blipFill>
        <p:spPr>
          <a:xfrm>
            <a:off x="3750057" y="3743188"/>
            <a:ext cx="8385238" cy="1531435"/>
          </a:xfrm>
          <a:prstGeom prst="rect">
            <a:avLst/>
          </a:prstGeom>
        </p:spPr>
      </p:pic>
      <p:sp>
        <p:nvSpPr>
          <p:cNvPr id="8" name="テキスト ボックス 7"/>
          <p:cNvSpPr txBox="1"/>
          <p:nvPr/>
        </p:nvSpPr>
        <p:spPr>
          <a:xfrm>
            <a:off x="290129" y="928156"/>
            <a:ext cx="9127820" cy="2400657"/>
          </a:xfrm>
          <a:prstGeom prst="rect">
            <a:avLst/>
          </a:prstGeom>
          <a:noFill/>
        </p:spPr>
        <p:txBody>
          <a:bodyPr wrap="none" rtlCol="0">
            <a:spAutoFit/>
          </a:bodyPr>
          <a:lstStyle/>
          <a:p>
            <a:pPr>
              <a:lnSpc>
                <a:spcPct val="150000"/>
              </a:lnSpc>
            </a:pPr>
            <a:r>
              <a:rPr lang="ja-JP" altLang="en-US" sz="2000" dirty="0" smtClean="0">
                <a:latin typeface="BIZ UDPゴシック" panose="020B0400000000000000" pitchFamily="50" charset="-128"/>
                <a:ea typeface="BIZ UDPゴシック" panose="020B0400000000000000" pitchFamily="50" charset="-128"/>
              </a:rPr>
              <a:t>①サーバーにクライアントを接続</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②サーバーで敵を出現</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③クライアントの敵情報更新の</a:t>
            </a:r>
            <a:r>
              <a:rPr lang="en-US" altLang="ja-JP" sz="2000" dirty="0" smtClean="0">
                <a:latin typeface="BIZ UDPゴシック" panose="020B0400000000000000" pitchFamily="50" charset="-128"/>
                <a:ea typeface="BIZ UDPゴシック" panose="020B0400000000000000" pitchFamily="50" charset="-128"/>
              </a:rPr>
              <a:t>data</a:t>
            </a:r>
            <a:r>
              <a:rPr lang="ja-JP" altLang="en-US" sz="2000" dirty="0" smtClean="0">
                <a:latin typeface="BIZ UDPゴシック" panose="020B0400000000000000" pitchFamily="50" charset="-128"/>
                <a:ea typeface="BIZ UDPゴシック" panose="020B0400000000000000" pitchFamily="50" charset="-128"/>
              </a:rPr>
              <a:t>をコピーするところにブレイクポイントを置く</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④プレイ</a:t>
            </a:r>
            <a:r>
              <a:rPr lang="ja-JP" altLang="en-US" sz="2000" dirty="0" err="1" smtClean="0">
                <a:latin typeface="BIZ UDPゴシック" panose="020B0400000000000000" pitchFamily="50" charset="-128"/>
                <a:ea typeface="BIZ UDPゴシック" panose="020B0400000000000000" pitchFamily="50" charset="-128"/>
              </a:rPr>
              <a:t>く</a:t>
            </a:r>
            <a:r>
              <a:rPr lang="ja-JP" altLang="en-US" sz="2000" dirty="0" smtClean="0">
                <a:latin typeface="BIZ UDPゴシック" panose="020B0400000000000000" pitchFamily="50" charset="-128"/>
                <a:ea typeface="BIZ UDPゴシック" panose="020B0400000000000000" pitchFamily="50" charset="-128"/>
              </a:rPr>
              <a:t>ポイントで、停止した状態で</a:t>
            </a:r>
            <a:r>
              <a:rPr lang="en-US" altLang="ja-JP" sz="2000" dirty="0" err="1" smtClean="0">
                <a:latin typeface="BIZ UDPゴシック" panose="020B0400000000000000" pitchFamily="50" charset="-128"/>
                <a:ea typeface="BIZ UDPゴシック" panose="020B0400000000000000" pitchFamily="50" charset="-128"/>
              </a:rPr>
              <a:t>data.enemy</a:t>
            </a:r>
            <a:r>
              <a:rPr lang="en-US" altLang="ja-JP" sz="2000" dirty="0" smtClean="0">
                <a:latin typeface="BIZ UDPゴシック" panose="020B0400000000000000" pitchFamily="50" charset="-128"/>
                <a:ea typeface="BIZ UDPゴシック" panose="020B0400000000000000" pitchFamily="50" charset="-128"/>
              </a:rPr>
              <a:t>[</a:t>
            </a:r>
            <a:r>
              <a:rPr lang="en-US" altLang="ja-JP" sz="2000" dirty="0" err="1" smtClean="0">
                <a:latin typeface="BIZ UDPゴシック" panose="020B0400000000000000" pitchFamily="50" charset="-128"/>
                <a:ea typeface="BIZ UDPゴシック" panose="020B0400000000000000" pitchFamily="50" charset="-128"/>
              </a:rPr>
              <a:t>i</a:t>
            </a:r>
            <a:r>
              <a:rPr lang="en-US" altLang="ja-JP" sz="2000" dirty="0" smtClean="0">
                <a:latin typeface="BIZ UDPゴシック" panose="020B0400000000000000" pitchFamily="50" charset="-128"/>
                <a:ea typeface="BIZ UDPゴシック" panose="020B0400000000000000" pitchFamily="50" charset="-128"/>
              </a:rPr>
              <a:t>]</a:t>
            </a:r>
            <a:r>
              <a:rPr lang="ja-JP" altLang="en-US" sz="2000" dirty="0" smtClean="0">
                <a:latin typeface="BIZ UDPゴシック" panose="020B0400000000000000" pitchFamily="50" charset="-128"/>
                <a:ea typeface="BIZ UDPゴシック" panose="020B0400000000000000" pitchFamily="50" charset="-128"/>
              </a:rPr>
              <a:t>の情報を確認</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⑤座標データが送られているか確認</a:t>
            </a:r>
          </a:p>
        </p:txBody>
      </p:sp>
      <p:sp>
        <p:nvSpPr>
          <p:cNvPr id="9" name="テキスト ボックス 8"/>
          <p:cNvSpPr txBox="1"/>
          <p:nvPr/>
        </p:nvSpPr>
        <p:spPr>
          <a:xfrm>
            <a:off x="290129" y="3857660"/>
            <a:ext cx="491645" cy="40011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ja-JP" altLang="en-US" sz="2000" dirty="0" smtClean="0">
                <a:latin typeface="BIZ UDPゴシック" panose="020B0400000000000000" pitchFamily="50" charset="-128"/>
                <a:ea typeface="BIZ UDPゴシック" panose="020B0400000000000000" pitchFamily="50" charset="-128"/>
              </a:rPr>
              <a:t>①</a:t>
            </a:r>
            <a:endParaRPr lang="en-US" altLang="ja-JP" sz="2000" dirty="0" smtClean="0">
              <a:latin typeface="BIZ UDPゴシック" panose="020B0400000000000000" pitchFamily="50" charset="-128"/>
              <a:ea typeface="BIZ UDPゴシック" panose="020B0400000000000000" pitchFamily="50" charset="-128"/>
            </a:endParaRPr>
          </a:p>
        </p:txBody>
      </p:sp>
      <p:sp>
        <p:nvSpPr>
          <p:cNvPr id="10" name="テキスト ボックス 9"/>
          <p:cNvSpPr txBox="1"/>
          <p:nvPr/>
        </p:nvSpPr>
        <p:spPr>
          <a:xfrm>
            <a:off x="3780027" y="4004557"/>
            <a:ext cx="541211" cy="40011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ja-JP" altLang="en-US" sz="2000" dirty="0" smtClean="0">
                <a:latin typeface="BIZ UDPゴシック" panose="020B0400000000000000" pitchFamily="50" charset="-128"/>
                <a:ea typeface="BIZ UDPゴシック" panose="020B0400000000000000" pitchFamily="50" charset="-128"/>
              </a:rPr>
              <a:t>③</a:t>
            </a:r>
            <a:endParaRPr lang="en-US" altLang="ja-JP" sz="2000" dirty="0" smtClean="0">
              <a:latin typeface="BIZ UDPゴシック" panose="020B0400000000000000" pitchFamily="50" charset="-128"/>
              <a:ea typeface="BIZ UDPゴシック" panose="020B0400000000000000" pitchFamily="50" charset="-128"/>
            </a:endParaRPr>
          </a:p>
        </p:txBody>
      </p:sp>
      <p:sp>
        <p:nvSpPr>
          <p:cNvPr id="11" name="テキスト ボックス 10"/>
          <p:cNvSpPr txBox="1"/>
          <p:nvPr/>
        </p:nvSpPr>
        <p:spPr>
          <a:xfrm>
            <a:off x="11149152" y="4918195"/>
            <a:ext cx="541211" cy="40011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ja-JP" altLang="en-US" sz="2000" dirty="0" smtClean="0">
                <a:latin typeface="BIZ UDPゴシック" panose="020B0400000000000000" pitchFamily="50" charset="-128"/>
                <a:ea typeface="BIZ UDPゴシック" panose="020B0400000000000000" pitchFamily="50" charset="-128"/>
              </a:rPr>
              <a:t>⑤</a:t>
            </a:r>
            <a:endParaRPr lang="en-US" altLang="ja-JP" sz="2000" dirty="0" smtClea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8485190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77588" y="200119"/>
            <a:ext cx="11897809" cy="1938992"/>
          </a:xfrm>
          <a:prstGeom prst="rect">
            <a:avLst/>
          </a:prstGeom>
          <a:noFill/>
        </p:spPr>
        <p:txBody>
          <a:bodyPr wrap="none" rtlCol="0">
            <a:spAutoFit/>
          </a:bodyPr>
          <a:lstStyle/>
          <a:p>
            <a:pPr>
              <a:lnSpc>
                <a:spcPct val="150000"/>
              </a:lnSpc>
            </a:pPr>
            <a:r>
              <a:rPr lang="ja-JP" altLang="en-US" sz="2000" dirty="0" smtClean="0">
                <a:latin typeface="BIZ UDPゴシック" panose="020B0400000000000000" pitchFamily="50" charset="-128"/>
                <a:ea typeface="BIZ UDPゴシック" panose="020B0400000000000000" pitchFamily="50" charset="-128"/>
              </a:rPr>
              <a:t>　このまま処理を追加したいところだけど、サーバーが敵をスポーンすると、クライアントにも敵を表示する</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a:latin typeface="BIZ UDPゴシック" panose="020B0400000000000000" pitchFamily="50" charset="-128"/>
                <a:ea typeface="BIZ UDPゴシック" panose="020B0400000000000000" pitchFamily="50" charset="-128"/>
              </a:rPr>
              <a:t>必要</a:t>
            </a:r>
            <a:r>
              <a:rPr lang="ja-JP" altLang="en-US" sz="2000" dirty="0" smtClean="0">
                <a:latin typeface="BIZ UDPゴシック" panose="020B0400000000000000" pitchFamily="50" charset="-128"/>
                <a:ea typeface="BIZ UDPゴシック" panose="020B0400000000000000" pitchFamily="50" charset="-128"/>
              </a:rPr>
              <a:t>がある。しかし、敵の位置だけ送ると</a:t>
            </a:r>
            <a:r>
              <a:rPr lang="ja-JP" altLang="en-US" sz="2000" b="1" dirty="0" smtClean="0">
                <a:solidFill>
                  <a:srgbClr val="FF0000"/>
                </a:solidFill>
                <a:latin typeface="BIZ UDPゴシック" panose="020B0400000000000000" pitchFamily="50" charset="-128"/>
                <a:ea typeface="BIZ UDPゴシック" panose="020B0400000000000000" pitchFamily="50" charset="-128"/>
              </a:rPr>
              <a:t>「この敵は前回の敵と同じなのか、新しく出現した敵なのか」</a:t>
            </a:r>
            <a:r>
              <a:rPr lang="ja-JP" altLang="en-US" sz="2000" dirty="0" smtClean="0">
                <a:latin typeface="BIZ UDPゴシック" panose="020B0400000000000000" pitchFamily="50" charset="-128"/>
                <a:ea typeface="BIZ UDPゴシック" panose="020B0400000000000000" pitchFamily="50" charset="-128"/>
              </a:rPr>
              <a:t>を判</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断できない。</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　そこ</a:t>
            </a:r>
            <a:r>
              <a:rPr lang="ja-JP" altLang="en-US" sz="2000" dirty="0">
                <a:latin typeface="BIZ UDPゴシック" panose="020B0400000000000000" pitchFamily="50" charset="-128"/>
                <a:ea typeface="BIZ UDPゴシック" panose="020B0400000000000000" pitchFamily="50" charset="-128"/>
              </a:rPr>
              <a:t>で</a:t>
            </a:r>
            <a:r>
              <a:rPr lang="ja-JP" altLang="en-US" sz="2000" dirty="0" smtClean="0">
                <a:latin typeface="BIZ UDPゴシック" panose="020B0400000000000000" pitchFamily="50" charset="-128"/>
                <a:ea typeface="BIZ UDPゴシック" panose="020B0400000000000000" pitchFamily="50" charset="-128"/>
              </a:rPr>
              <a:t>、敵にも</a:t>
            </a:r>
            <a:r>
              <a:rPr lang="en-US" altLang="ja-JP" sz="2000" dirty="0" smtClean="0">
                <a:latin typeface="BIZ UDPゴシック" panose="020B0400000000000000" pitchFamily="50" charset="-128"/>
                <a:ea typeface="BIZ UDPゴシック" panose="020B0400000000000000" pitchFamily="50" charset="-128"/>
              </a:rPr>
              <a:t>ID</a:t>
            </a:r>
            <a:r>
              <a:rPr lang="ja-JP" altLang="en-US" sz="2000" dirty="0" smtClean="0">
                <a:latin typeface="BIZ UDPゴシック" panose="020B0400000000000000" pitchFamily="50" charset="-128"/>
                <a:ea typeface="BIZ UDPゴシック" panose="020B0400000000000000" pitchFamily="50" charset="-128"/>
              </a:rPr>
              <a:t>を割り当てて管理する。</a:t>
            </a:r>
            <a:endParaRPr lang="en-US" altLang="ja-JP" sz="2000" dirty="0" smtClean="0">
              <a:latin typeface="BIZ UDPゴシック" panose="020B0400000000000000" pitchFamily="50" charset="-128"/>
              <a:ea typeface="BIZ UDPゴシック" panose="020B0400000000000000" pitchFamily="50" charset="-128"/>
            </a:endParaRPr>
          </a:p>
        </p:txBody>
      </p:sp>
      <p:sp>
        <p:nvSpPr>
          <p:cNvPr id="5" name="テキスト ボックス 4"/>
          <p:cNvSpPr txBox="1"/>
          <p:nvPr/>
        </p:nvSpPr>
        <p:spPr>
          <a:xfrm>
            <a:off x="430807" y="2265719"/>
            <a:ext cx="4115229" cy="424731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nSpc>
                <a:spcPct val="150000"/>
              </a:lnSpc>
            </a:pPr>
            <a:r>
              <a:rPr lang="ja-JP" altLang="en-US" sz="2000" dirty="0" smtClean="0">
                <a:latin typeface="BIZ UDPゴシック" panose="020B0400000000000000" pitchFamily="50" charset="-128"/>
                <a:ea typeface="BIZ UDPゴシック" panose="020B0400000000000000" pitchFamily="50" charset="-128"/>
              </a:rPr>
              <a:t>①サーバーで敵生成</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en-US" altLang="ja-JP" sz="2000" dirty="0" smtClean="0">
                <a:latin typeface="BIZ UDPゴシック" panose="020B0400000000000000" pitchFamily="50" charset="-128"/>
                <a:ea typeface="BIZ UDPゴシック" panose="020B0400000000000000" pitchFamily="50" charset="-128"/>
              </a:rPr>
              <a:t>	</a:t>
            </a:r>
            <a:r>
              <a:rPr lang="ja-JP" altLang="en-US" sz="2000" dirty="0" smtClean="0">
                <a:latin typeface="BIZ UDPゴシック" panose="020B0400000000000000" pitchFamily="50" charset="-128"/>
                <a:ea typeface="BIZ UDPゴシック" panose="020B0400000000000000" pitchFamily="50" charset="-128"/>
              </a:rPr>
              <a:t>↓</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②敵に</a:t>
            </a:r>
            <a:r>
              <a:rPr lang="en-US" altLang="ja-JP" sz="2000" dirty="0" smtClean="0">
                <a:latin typeface="BIZ UDPゴシック" panose="020B0400000000000000" pitchFamily="50" charset="-128"/>
                <a:ea typeface="BIZ UDPゴシック" panose="020B0400000000000000" pitchFamily="50" charset="-128"/>
              </a:rPr>
              <a:t>ID</a:t>
            </a:r>
            <a:r>
              <a:rPr lang="ja-JP" altLang="en-US" sz="2000" dirty="0" smtClean="0">
                <a:latin typeface="BIZ UDPゴシック" panose="020B0400000000000000" pitchFamily="50" charset="-128"/>
                <a:ea typeface="BIZ UDPゴシック" panose="020B0400000000000000" pitchFamily="50" charset="-128"/>
              </a:rPr>
              <a:t>を割り当てる</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en-US" altLang="ja-JP" sz="2000" dirty="0" smtClean="0">
                <a:latin typeface="BIZ UDPゴシック" panose="020B0400000000000000" pitchFamily="50" charset="-128"/>
                <a:ea typeface="BIZ UDPゴシック" panose="020B0400000000000000" pitchFamily="50" charset="-128"/>
              </a:rPr>
              <a:t>	</a:t>
            </a:r>
            <a:r>
              <a:rPr lang="ja-JP" altLang="en-US" sz="2000" dirty="0" smtClean="0">
                <a:latin typeface="BIZ UDPゴシック" panose="020B0400000000000000" pitchFamily="50" charset="-128"/>
                <a:ea typeface="BIZ UDPゴシック" panose="020B0400000000000000" pitchFamily="50" charset="-128"/>
              </a:rPr>
              <a:t>↓</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③「</a:t>
            </a:r>
            <a:r>
              <a:rPr lang="en-US" altLang="ja-JP" sz="2000" dirty="0" smtClean="0">
                <a:latin typeface="BIZ UDPゴシック" panose="020B0400000000000000" pitchFamily="50" charset="-128"/>
                <a:ea typeface="BIZ UDPゴシック" panose="020B0400000000000000" pitchFamily="50" charset="-128"/>
              </a:rPr>
              <a:t>ID</a:t>
            </a:r>
            <a:r>
              <a:rPr lang="ja-JP" altLang="en-US" sz="2000" dirty="0" smtClean="0">
                <a:latin typeface="BIZ UDPゴシック" panose="020B0400000000000000" pitchFamily="50" charset="-128"/>
                <a:ea typeface="BIZ UDPゴシック" panose="020B0400000000000000" pitchFamily="50" charset="-128"/>
              </a:rPr>
              <a:t>と位置」をクライアントへ送信</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en-US" altLang="ja-JP" sz="2000" dirty="0" smtClean="0">
                <a:latin typeface="BIZ UDPゴシック" panose="020B0400000000000000" pitchFamily="50" charset="-128"/>
                <a:ea typeface="BIZ UDPゴシック" panose="020B0400000000000000" pitchFamily="50" charset="-128"/>
              </a:rPr>
              <a:t>	</a:t>
            </a:r>
            <a:r>
              <a:rPr lang="ja-JP" altLang="en-US" sz="2000" dirty="0" smtClean="0">
                <a:latin typeface="BIZ UDPゴシック" panose="020B0400000000000000" pitchFamily="50" charset="-128"/>
                <a:ea typeface="BIZ UDPゴシック" panose="020B0400000000000000" pitchFamily="50" charset="-128"/>
              </a:rPr>
              <a:t>↓</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④クライアントは</a:t>
            </a:r>
            <a:r>
              <a:rPr lang="en-US" altLang="ja-JP" sz="2000" dirty="0" smtClean="0">
                <a:latin typeface="BIZ UDPゴシック" panose="020B0400000000000000" pitchFamily="50" charset="-128"/>
                <a:ea typeface="BIZ UDPゴシック" panose="020B0400000000000000" pitchFamily="50" charset="-128"/>
              </a:rPr>
              <a:t>ID</a:t>
            </a:r>
            <a:r>
              <a:rPr lang="ja-JP" altLang="en-US" sz="2000" dirty="0" smtClean="0">
                <a:latin typeface="BIZ UDPゴシック" panose="020B0400000000000000" pitchFamily="50" charset="-128"/>
                <a:ea typeface="BIZ UDPゴシック" panose="020B0400000000000000" pitchFamily="50" charset="-128"/>
              </a:rPr>
              <a:t>を見て敵を管理</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en-US" altLang="ja-JP" sz="2000" dirty="0" smtClean="0">
                <a:latin typeface="BIZ UDPゴシック" panose="020B0400000000000000" pitchFamily="50" charset="-128"/>
                <a:ea typeface="BIZ UDPゴシック" panose="020B0400000000000000" pitchFamily="50" charset="-128"/>
              </a:rPr>
              <a:t>	</a:t>
            </a:r>
            <a:r>
              <a:rPr lang="ja-JP" altLang="en-US" sz="2000" dirty="0" smtClean="0">
                <a:latin typeface="BIZ UDPゴシック" panose="020B0400000000000000" pitchFamily="50" charset="-128"/>
                <a:ea typeface="BIZ UDPゴシック" panose="020B0400000000000000" pitchFamily="50" charset="-128"/>
              </a:rPr>
              <a:t>↓</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⑤敵の生成や削除</a:t>
            </a:r>
            <a:endParaRPr lang="en-US" altLang="ja-JP" sz="2000" dirty="0" smtClean="0">
              <a:latin typeface="BIZ UDPゴシック" panose="020B0400000000000000" pitchFamily="50" charset="-128"/>
              <a:ea typeface="BIZ UDPゴシック" panose="020B0400000000000000" pitchFamily="50" charset="-128"/>
            </a:endParaRPr>
          </a:p>
        </p:txBody>
      </p:sp>
      <p:pic>
        <p:nvPicPr>
          <p:cNvPr id="6" name="図 5"/>
          <p:cNvPicPr>
            <a:picLocks noChangeAspect="1"/>
          </p:cNvPicPr>
          <p:nvPr/>
        </p:nvPicPr>
        <p:blipFill>
          <a:blip r:embed="rId2"/>
          <a:stretch>
            <a:fillRect/>
          </a:stretch>
        </p:blipFill>
        <p:spPr>
          <a:xfrm>
            <a:off x="5028597" y="3351546"/>
            <a:ext cx="6269910" cy="3034292"/>
          </a:xfrm>
          <a:prstGeom prst="rect">
            <a:avLst/>
          </a:prstGeom>
        </p:spPr>
      </p:pic>
      <p:sp>
        <p:nvSpPr>
          <p:cNvPr id="7" name="テキスト ボックス 6"/>
          <p:cNvSpPr txBox="1"/>
          <p:nvPr/>
        </p:nvSpPr>
        <p:spPr>
          <a:xfrm>
            <a:off x="5042185" y="2237497"/>
            <a:ext cx="4270721" cy="1015663"/>
          </a:xfrm>
          <a:prstGeom prst="rect">
            <a:avLst/>
          </a:prstGeom>
          <a:noFill/>
        </p:spPr>
        <p:txBody>
          <a:bodyPr wrap="none" rtlCol="0">
            <a:spAutoFit/>
          </a:bodyPr>
          <a:lstStyle/>
          <a:p>
            <a:pPr>
              <a:lnSpc>
                <a:spcPct val="150000"/>
              </a:lnSpc>
            </a:pPr>
            <a:r>
              <a:rPr lang="en-US" altLang="ja-JP" sz="2000" dirty="0" err="1" smtClean="0">
                <a:latin typeface="BIZ UDPゴシック" panose="020B0400000000000000" pitchFamily="50" charset="-128"/>
                <a:ea typeface="BIZ UDPゴシック" panose="020B0400000000000000" pitchFamily="50" charset="-128"/>
              </a:rPr>
              <a:t>NetData.h</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クライアントとサーバーの両方に追加</a:t>
            </a:r>
            <a:endParaRPr lang="en-US" altLang="ja-JP" sz="2000" dirty="0" smtClean="0">
              <a:latin typeface="BIZ UDPゴシック" panose="020B0400000000000000" pitchFamily="50" charset="-128"/>
              <a:ea typeface="BIZ UDPゴシック" panose="020B0400000000000000" pitchFamily="50" charset="-128"/>
            </a:endParaRPr>
          </a:p>
        </p:txBody>
      </p:sp>
      <p:sp>
        <p:nvSpPr>
          <p:cNvPr id="8" name="テキスト ボックス 7"/>
          <p:cNvSpPr txBox="1"/>
          <p:nvPr/>
        </p:nvSpPr>
        <p:spPr>
          <a:xfrm>
            <a:off x="8177140" y="4389377"/>
            <a:ext cx="3121367" cy="475515"/>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nSpc>
                <a:spcPct val="150000"/>
              </a:lnSpc>
            </a:pPr>
            <a:r>
              <a:rPr lang="en-US" altLang="ja-JP" sz="2000" dirty="0" err="1" smtClean="0">
                <a:latin typeface="BIZ UDPゴシック" panose="020B0400000000000000" pitchFamily="50" charset="-128"/>
                <a:ea typeface="BIZ UDPゴシック" panose="020B0400000000000000" pitchFamily="50" charset="-128"/>
              </a:rPr>
              <a:t>EnemyData</a:t>
            </a:r>
            <a:r>
              <a:rPr lang="ja-JP" altLang="en-US" sz="2000" dirty="0" smtClean="0">
                <a:latin typeface="BIZ UDPゴシック" panose="020B0400000000000000" pitchFamily="50" charset="-128"/>
                <a:ea typeface="BIZ UDPゴシック" panose="020B0400000000000000" pitchFamily="50" charset="-128"/>
              </a:rPr>
              <a:t>に</a:t>
            </a:r>
            <a:r>
              <a:rPr lang="en-US" altLang="ja-JP" sz="2000" dirty="0" smtClean="0">
                <a:latin typeface="BIZ UDPゴシック" panose="020B0400000000000000" pitchFamily="50" charset="-128"/>
                <a:ea typeface="BIZ UDPゴシック" panose="020B0400000000000000" pitchFamily="50" charset="-128"/>
              </a:rPr>
              <a:t>ID</a:t>
            </a:r>
            <a:r>
              <a:rPr lang="ja-JP" altLang="en-US" sz="2000" dirty="0" smtClean="0">
                <a:latin typeface="BIZ UDPゴシック" panose="020B0400000000000000" pitchFamily="50" charset="-128"/>
                <a:ea typeface="BIZ UDPゴシック" panose="020B0400000000000000" pitchFamily="50" charset="-128"/>
              </a:rPr>
              <a:t>を追加</a:t>
            </a:r>
            <a:endParaRPr lang="en-US" altLang="ja-JP" sz="2000" dirty="0" smtClea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0894886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77588" y="200119"/>
            <a:ext cx="5868914" cy="553998"/>
          </a:xfrm>
          <a:prstGeom prst="rect">
            <a:avLst/>
          </a:prstGeom>
          <a:noFill/>
        </p:spPr>
        <p:txBody>
          <a:bodyPr wrap="none" rtlCol="0">
            <a:spAutoFit/>
          </a:bodyPr>
          <a:lstStyle/>
          <a:p>
            <a:pPr>
              <a:lnSpc>
                <a:spcPct val="150000"/>
              </a:lnSpc>
            </a:pPr>
            <a:r>
              <a:rPr lang="en-US" altLang="ja-JP" sz="2000" b="1" dirty="0" smtClean="0">
                <a:latin typeface="BIZ UDPゴシック" panose="020B0400000000000000" pitchFamily="50" charset="-128"/>
                <a:ea typeface="BIZ UDPゴシック" panose="020B0400000000000000" pitchFamily="50" charset="-128"/>
              </a:rPr>
              <a:t>【</a:t>
            </a:r>
            <a:r>
              <a:rPr lang="ja-JP" altLang="en-US" sz="2000" b="1" dirty="0" smtClean="0">
                <a:latin typeface="BIZ UDPゴシック" panose="020B0400000000000000" pitchFamily="50" charset="-128"/>
                <a:ea typeface="BIZ UDPゴシック" panose="020B0400000000000000" pitchFamily="50" charset="-128"/>
              </a:rPr>
              <a:t>敵</a:t>
            </a:r>
            <a:r>
              <a:rPr lang="en-US" altLang="ja-JP" sz="2000" b="1" dirty="0" smtClean="0">
                <a:latin typeface="BIZ UDPゴシック" panose="020B0400000000000000" pitchFamily="50" charset="-128"/>
                <a:ea typeface="BIZ UDPゴシック" panose="020B0400000000000000" pitchFamily="50" charset="-128"/>
              </a:rPr>
              <a:t>ID</a:t>
            </a:r>
            <a:r>
              <a:rPr lang="ja-JP" altLang="en-US" sz="2000" b="1" dirty="0" smtClean="0">
                <a:latin typeface="BIZ UDPゴシック" panose="020B0400000000000000" pitchFamily="50" charset="-128"/>
                <a:ea typeface="BIZ UDPゴシック" panose="020B0400000000000000" pitchFamily="50" charset="-128"/>
              </a:rPr>
              <a:t>の発行処理</a:t>
            </a:r>
            <a:r>
              <a:rPr lang="en-US" altLang="ja-JP" sz="2000" b="1" dirty="0" smtClean="0">
                <a:latin typeface="BIZ UDPゴシック" panose="020B0400000000000000" pitchFamily="50" charset="-128"/>
                <a:ea typeface="BIZ UDPゴシック" panose="020B0400000000000000" pitchFamily="50" charset="-128"/>
              </a:rPr>
              <a:t>】</a:t>
            </a:r>
            <a:r>
              <a:rPr lang="ja-JP" altLang="en-US" sz="2000" b="1" dirty="0" smtClean="0">
                <a:latin typeface="BIZ UDPゴシック" panose="020B0400000000000000" pitchFamily="50" charset="-128"/>
                <a:ea typeface="BIZ UDPゴシック" panose="020B0400000000000000" pitchFamily="50" charset="-128"/>
              </a:rPr>
              <a:t>　　</a:t>
            </a:r>
            <a:r>
              <a:rPr lang="en-US" altLang="ja-JP" sz="2000" b="1" dirty="0" smtClean="0">
                <a:latin typeface="BIZ UDPゴシック" panose="020B0400000000000000" pitchFamily="50" charset="-128"/>
                <a:ea typeface="BIZ UDPゴシック" panose="020B0400000000000000" pitchFamily="50" charset="-128"/>
              </a:rPr>
              <a:t>set&lt; &gt; </a:t>
            </a:r>
            <a:r>
              <a:rPr lang="ja-JP" altLang="en-US" sz="2000" b="1" dirty="0" smtClean="0">
                <a:latin typeface="BIZ UDPゴシック" panose="020B0400000000000000" pitchFamily="50" charset="-128"/>
                <a:ea typeface="BIZ UDPゴシック" panose="020B0400000000000000" pitchFamily="50" charset="-128"/>
              </a:rPr>
              <a:t>を使って管理する。</a:t>
            </a:r>
            <a:endParaRPr lang="en-US" altLang="ja-JP" sz="2000" b="1" dirty="0" smtClean="0">
              <a:latin typeface="BIZ UDPゴシック" panose="020B0400000000000000" pitchFamily="50" charset="-128"/>
              <a:ea typeface="BIZ UDPゴシック" panose="020B0400000000000000" pitchFamily="50" charset="-128"/>
            </a:endParaRPr>
          </a:p>
        </p:txBody>
      </p:sp>
      <p:sp>
        <p:nvSpPr>
          <p:cNvPr id="5" name="テキスト ボックス 4"/>
          <p:cNvSpPr txBox="1"/>
          <p:nvPr/>
        </p:nvSpPr>
        <p:spPr>
          <a:xfrm>
            <a:off x="373154" y="1070797"/>
            <a:ext cx="6538970" cy="553998"/>
          </a:xfrm>
          <a:prstGeom prst="rect">
            <a:avLst/>
          </a:prstGeom>
          <a:noFill/>
        </p:spPr>
        <p:txBody>
          <a:bodyPr wrap="none" rtlCol="0">
            <a:spAutoFit/>
          </a:bodyPr>
          <a:lstStyle/>
          <a:p>
            <a:pPr>
              <a:lnSpc>
                <a:spcPct val="150000"/>
              </a:lnSpc>
            </a:pPr>
            <a:r>
              <a:rPr lang="en-US" altLang="ja-JP" sz="2000" dirty="0" smtClean="0">
                <a:latin typeface="BIZ UDPゴシック" panose="020B0400000000000000" pitchFamily="50" charset="-128"/>
                <a:ea typeface="BIZ UDPゴシック" panose="020B0400000000000000" pitchFamily="50" charset="-128"/>
              </a:rPr>
              <a:t>set</a:t>
            </a:r>
            <a:r>
              <a:rPr lang="ja-JP" altLang="en-US" sz="2000" dirty="0" smtClean="0">
                <a:latin typeface="BIZ UDPゴシック" panose="020B0400000000000000" pitchFamily="50" charset="-128"/>
                <a:ea typeface="BIZ UDPゴシック" panose="020B0400000000000000" pitchFamily="50" charset="-128"/>
              </a:rPr>
              <a:t>は、同じ値を重複して持つことができない特殊な配列</a:t>
            </a:r>
            <a:endParaRPr lang="en-US" altLang="ja-JP" sz="2000" dirty="0" smtClean="0">
              <a:latin typeface="BIZ UDPゴシック" panose="020B0400000000000000" pitchFamily="50" charset="-128"/>
              <a:ea typeface="BIZ UDPゴシック" panose="020B0400000000000000" pitchFamily="50" charset="-128"/>
            </a:endParaRPr>
          </a:p>
        </p:txBody>
      </p:sp>
      <p:sp>
        <p:nvSpPr>
          <p:cNvPr id="7" name="テキスト ボックス 6"/>
          <p:cNvSpPr txBox="1"/>
          <p:nvPr/>
        </p:nvSpPr>
        <p:spPr>
          <a:xfrm>
            <a:off x="373154" y="2001209"/>
            <a:ext cx="5477782" cy="186050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nSpc>
                <a:spcPct val="150000"/>
              </a:lnSpc>
            </a:pPr>
            <a:r>
              <a:rPr lang="en-US" altLang="ja-JP" sz="2000" dirty="0" smtClean="0">
                <a:latin typeface="BIZ UDPゴシック" panose="020B0400000000000000" pitchFamily="50" charset="-128"/>
                <a:ea typeface="BIZ UDPゴシック" panose="020B0400000000000000" pitchFamily="50" charset="-128"/>
              </a:rPr>
              <a:t>set</a:t>
            </a: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　０，　２，　５　｝</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en-US" altLang="ja-JP" sz="2000" dirty="0" smtClean="0">
                <a:latin typeface="BIZ UDPゴシック" panose="020B0400000000000000" pitchFamily="50" charset="-128"/>
                <a:ea typeface="BIZ UDPゴシック" panose="020B0400000000000000" pitchFamily="50" charset="-128"/>
              </a:rPr>
              <a:t>	</a:t>
            </a:r>
            <a:r>
              <a:rPr lang="ja-JP" altLang="en-US" sz="2000" dirty="0" smtClean="0">
                <a:latin typeface="BIZ UDPゴシック" panose="020B0400000000000000" pitchFamily="50" charset="-128"/>
                <a:ea typeface="BIZ UDPゴシック" panose="020B0400000000000000" pitchFamily="50" charset="-128"/>
              </a:rPr>
              <a:t>↓</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「この値</a:t>
            </a:r>
            <a:r>
              <a:rPr lang="ja-JP" altLang="en-US" sz="2000" dirty="0">
                <a:latin typeface="BIZ UDPゴシック" panose="020B0400000000000000" pitchFamily="50" charset="-128"/>
                <a:ea typeface="BIZ UDPゴシック" panose="020B0400000000000000" pitchFamily="50" charset="-128"/>
              </a:rPr>
              <a:t>がはいっているか</a:t>
            </a:r>
            <a:r>
              <a:rPr lang="ja-JP" altLang="en-US" sz="2000" dirty="0" smtClean="0">
                <a:latin typeface="BIZ UDPゴシック" panose="020B0400000000000000" pitchFamily="50" charset="-128"/>
                <a:ea typeface="BIZ UDPゴシック" panose="020B0400000000000000" pitchFamily="50" charset="-128"/>
              </a:rPr>
              <a:t>？」を調べるのが得意</a:t>
            </a:r>
            <a:endParaRPr lang="en-US" altLang="ja-JP" sz="2000" dirty="0" smtClean="0">
              <a:latin typeface="BIZ UDPゴシック" panose="020B0400000000000000" pitchFamily="50" charset="-128"/>
              <a:ea typeface="BIZ UDPゴシック" panose="020B0400000000000000" pitchFamily="50" charset="-128"/>
            </a:endParaRPr>
          </a:p>
        </p:txBody>
      </p:sp>
      <p:sp>
        <p:nvSpPr>
          <p:cNvPr id="8" name="テキスト ボックス 7"/>
          <p:cNvSpPr txBox="1"/>
          <p:nvPr/>
        </p:nvSpPr>
        <p:spPr>
          <a:xfrm>
            <a:off x="373154" y="3948787"/>
            <a:ext cx="4423006" cy="2554545"/>
          </a:xfrm>
          <a:prstGeom prst="rect">
            <a:avLst/>
          </a:prstGeom>
          <a:noFill/>
        </p:spPr>
        <p:txBody>
          <a:bodyPr wrap="none" rtlCol="0">
            <a:spAutoFit/>
          </a:bodyPr>
          <a:lstStyle/>
          <a:p>
            <a:pPr>
              <a:lnSpc>
                <a:spcPct val="200000"/>
              </a:lnSpc>
            </a:pPr>
            <a:r>
              <a:rPr lang="en-US" altLang="ja-JP" sz="2000" dirty="0" smtClean="0">
                <a:latin typeface="BIZ UDPゴシック" panose="020B0400000000000000" pitchFamily="50" charset="-128"/>
                <a:ea typeface="BIZ UDPゴシック" panose="020B0400000000000000" pitchFamily="50" charset="-128"/>
              </a:rPr>
              <a:t>set&lt;</a:t>
            </a:r>
            <a:r>
              <a:rPr lang="en-US" altLang="ja-JP" sz="2000" dirty="0" err="1" smtClean="0">
                <a:latin typeface="BIZ UDPゴシック" panose="020B0400000000000000" pitchFamily="50" charset="-128"/>
                <a:ea typeface="BIZ UDPゴシック" panose="020B0400000000000000" pitchFamily="50" charset="-128"/>
              </a:rPr>
              <a:t>int</a:t>
            </a:r>
            <a:r>
              <a:rPr lang="en-US" altLang="ja-JP" sz="2000" dirty="0" smtClean="0">
                <a:latin typeface="BIZ UDPゴシック" panose="020B0400000000000000" pitchFamily="50" charset="-128"/>
                <a:ea typeface="BIZ UDPゴシック" panose="020B0400000000000000" pitchFamily="50" charset="-128"/>
              </a:rPr>
              <a:t>&gt; </a:t>
            </a:r>
            <a:r>
              <a:rPr lang="en-US" altLang="ja-JP" sz="2000" dirty="0" err="1" smtClean="0">
                <a:latin typeface="BIZ UDPゴシック" panose="020B0400000000000000" pitchFamily="50" charset="-128"/>
                <a:ea typeface="BIZ UDPゴシック" panose="020B0400000000000000" pitchFamily="50" charset="-128"/>
              </a:rPr>
              <a:t>aliveEnemy</a:t>
            </a:r>
            <a:r>
              <a:rPr lang="en-US" altLang="ja-JP" sz="2000" dirty="0" smtClean="0">
                <a:latin typeface="BIZ UDPゴシック" panose="020B0400000000000000" pitchFamily="50" charset="-128"/>
                <a:ea typeface="BIZ UDPゴシック" panose="020B0400000000000000" pitchFamily="50" charset="-128"/>
              </a:rPr>
              <a:t>;</a:t>
            </a:r>
          </a:p>
          <a:p>
            <a:pPr>
              <a:lnSpc>
                <a:spcPct val="200000"/>
              </a:lnSpc>
            </a:pPr>
            <a:r>
              <a:rPr lang="en-US" altLang="ja-JP" sz="2000" dirty="0" err="1" smtClean="0">
                <a:latin typeface="BIZ UDPゴシック" panose="020B0400000000000000" pitchFamily="50" charset="-128"/>
                <a:ea typeface="BIZ UDPゴシック" panose="020B0400000000000000" pitchFamily="50" charset="-128"/>
              </a:rPr>
              <a:t>aliveEnemy.insert</a:t>
            </a:r>
            <a:r>
              <a:rPr lang="en-US" altLang="ja-JP" sz="2000" dirty="0" smtClean="0">
                <a:latin typeface="BIZ UDPゴシック" panose="020B0400000000000000" pitchFamily="50" charset="-128"/>
                <a:ea typeface="BIZ UDPゴシック" panose="020B0400000000000000" pitchFamily="50" charset="-128"/>
              </a:rPr>
              <a:t>(5);//</a:t>
            </a:r>
            <a:r>
              <a:rPr lang="ja-JP" altLang="en-US" sz="2000" dirty="0" smtClean="0">
                <a:latin typeface="BIZ UDPゴシック" panose="020B0400000000000000" pitchFamily="50" charset="-128"/>
                <a:ea typeface="BIZ UDPゴシック" panose="020B0400000000000000" pitchFamily="50" charset="-128"/>
              </a:rPr>
              <a:t>５を登録</a:t>
            </a:r>
            <a:endParaRPr lang="en-US" altLang="ja-JP" sz="2000" dirty="0" smtClean="0">
              <a:latin typeface="BIZ UDPゴシック" panose="020B0400000000000000" pitchFamily="50" charset="-128"/>
              <a:ea typeface="BIZ UDPゴシック" panose="020B0400000000000000" pitchFamily="50" charset="-128"/>
            </a:endParaRPr>
          </a:p>
          <a:p>
            <a:pPr>
              <a:lnSpc>
                <a:spcPct val="200000"/>
              </a:lnSpc>
            </a:pPr>
            <a:r>
              <a:rPr lang="en-US" altLang="ja-JP" sz="2000" dirty="0" err="1" smtClean="0">
                <a:latin typeface="BIZ UDPゴシック" panose="020B0400000000000000" pitchFamily="50" charset="-128"/>
                <a:ea typeface="BIZ UDPゴシック" panose="020B0400000000000000" pitchFamily="50" charset="-128"/>
              </a:rPr>
              <a:t>aliveEnemy.find</a:t>
            </a:r>
            <a:r>
              <a:rPr lang="en-US" altLang="ja-JP" sz="2000" dirty="0" smtClean="0">
                <a:latin typeface="BIZ UDPゴシック" panose="020B0400000000000000" pitchFamily="50" charset="-128"/>
                <a:ea typeface="BIZ UDPゴシック" panose="020B0400000000000000" pitchFamily="50" charset="-128"/>
              </a:rPr>
              <a:t>(5);//</a:t>
            </a:r>
            <a:r>
              <a:rPr lang="ja-JP" altLang="en-US" sz="2000" dirty="0" smtClean="0">
                <a:latin typeface="BIZ UDPゴシック" panose="020B0400000000000000" pitchFamily="50" charset="-128"/>
                <a:ea typeface="BIZ UDPゴシック" panose="020B0400000000000000" pitchFamily="50" charset="-128"/>
              </a:rPr>
              <a:t>５を探す</a:t>
            </a:r>
            <a:endParaRPr lang="en-US" altLang="ja-JP" sz="2000" dirty="0" smtClean="0">
              <a:latin typeface="BIZ UDPゴシック" panose="020B0400000000000000" pitchFamily="50" charset="-128"/>
              <a:ea typeface="BIZ UDPゴシック" panose="020B0400000000000000" pitchFamily="50" charset="-128"/>
            </a:endParaRPr>
          </a:p>
          <a:p>
            <a:pPr>
              <a:lnSpc>
                <a:spcPct val="200000"/>
              </a:lnSpc>
            </a:pPr>
            <a:r>
              <a:rPr lang="en-US" altLang="ja-JP" sz="2000" dirty="0" err="1" smtClean="0">
                <a:latin typeface="BIZ UDPゴシック" panose="020B0400000000000000" pitchFamily="50" charset="-128"/>
                <a:ea typeface="BIZ UDPゴシック" panose="020B0400000000000000" pitchFamily="50" charset="-128"/>
              </a:rPr>
              <a:t>aliveEnemy.erase</a:t>
            </a:r>
            <a:r>
              <a:rPr lang="en-US" altLang="ja-JP" sz="2000" dirty="0" smtClean="0">
                <a:latin typeface="BIZ UDPゴシック" panose="020B0400000000000000" pitchFamily="50" charset="-128"/>
                <a:ea typeface="BIZ UDPゴシック" panose="020B0400000000000000" pitchFamily="50" charset="-128"/>
              </a:rPr>
              <a:t>(5);//</a:t>
            </a:r>
            <a:r>
              <a:rPr lang="ja-JP" altLang="en-US" sz="2000" dirty="0" smtClean="0">
                <a:latin typeface="BIZ UDPゴシック" panose="020B0400000000000000" pitchFamily="50" charset="-128"/>
                <a:ea typeface="BIZ UDPゴシック" panose="020B0400000000000000" pitchFamily="50" charset="-128"/>
              </a:rPr>
              <a:t>５を削除</a:t>
            </a:r>
            <a:endParaRPr lang="en-US" altLang="ja-JP" sz="2000" dirty="0" smtClean="0">
              <a:latin typeface="BIZ UDPゴシック" panose="020B0400000000000000" pitchFamily="50" charset="-128"/>
              <a:ea typeface="BIZ UDPゴシック" panose="020B0400000000000000" pitchFamily="50" charset="-128"/>
            </a:endParaRPr>
          </a:p>
        </p:txBody>
      </p:sp>
      <p:sp>
        <p:nvSpPr>
          <p:cNvPr id="9" name="テキスト ボックス 8"/>
          <p:cNvSpPr txBox="1"/>
          <p:nvPr/>
        </p:nvSpPr>
        <p:spPr>
          <a:xfrm>
            <a:off x="5346935" y="3948786"/>
            <a:ext cx="5934638" cy="1206484"/>
          </a:xfrm>
          <a:prstGeom prst="rect">
            <a:avLst/>
          </a:prstGeom>
          <a:noFill/>
        </p:spPr>
        <p:txBody>
          <a:bodyPr wrap="none" rtlCol="0">
            <a:spAutoFit/>
          </a:bodyPr>
          <a:lstStyle/>
          <a:p>
            <a:pPr>
              <a:lnSpc>
                <a:spcPct val="200000"/>
              </a:lnSpc>
            </a:pPr>
            <a:r>
              <a:rPr lang="en-US" altLang="ja-JP" sz="2000" dirty="0" err="1" smtClean="0">
                <a:latin typeface="BIZ UDPゴシック" panose="020B0400000000000000" pitchFamily="50" charset="-128"/>
                <a:ea typeface="BIZ UDPゴシック" panose="020B0400000000000000" pitchFamily="50" charset="-128"/>
              </a:rPr>
              <a:t>aliveEnemy.find</a:t>
            </a:r>
            <a:r>
              <a:rPr lang="en-US" altLang="ja-JP" sz="2000" dirty="0" smtClean="0">
                <a:latin typeface="BIZ UDPゴシック" panose="020B0400000000000000" pitchFamily="50" charset="-128"/>
                <a:ea typeface="BIZ UDPゴシック" panose="020B0400000000000000" pitchFamily="50" charset="-128"/>
              </a:rPr>
              <a:t>(5) == </a:t>
            </a:r>
            <a:r>
              <a:rPr lang="en-US" altLang="ja-JP" sz="2000" dirty="0" err="1" smtClean="0">
                <a:latin typeface="BIZ UDPゴシック" panose="020B0400000000000000" pitchFamily="50" charset="-128"/>
                <a:ea typeface="BIZ UDPゴシック" panose="020B0400000000000000" pitchFamily="50" charset="-128"/>
              </a:rPr>
              <a:t>aliveEnemy.end</a:t>
            </a:r>
            <a:r>
              <a:rPr lang="en-US" altLang="ja-JP" sz="2000" dirty="0" smtClean="0">
                <a:latin typeface="BIZ UDPゴシック" panose="020B0400000000000000" pitchFamily="50" charset="-128"/>
                <a:ea typeface="BIZ UDPゴシック" panose="020B0400000000000000" pitchFamily="50" charset="-128"/>
              </a:rPr>
              <a:t>()</a:t>
            </a:r>
          </a:p>
          <a:p>
            <a:pPr>
              <a:lnSpc>
                <a:spcPct val="200000"/>
              </a:lnSpc>
            </a:pPr>
            <a:r>
              <a:rPr lang="ja-JP" altLang="en-US" sz="2000" dirty="0" smtClean="0">
                <a:latin typeface="BIZ UDPゴシック" panose="020B0400000000000000" pitchFamily="50" charset="-128"/>
                <a:ea typeface="BIZ UDPゴシック" panose="020B0400000000000000" pitchFamily="50" charset="-128"/>
              </a:rPr>
              <a:t>→</a:t>
            </a:r>
            <a:r>
              <a:rPr lang="en-US" altLang="ja-JP" sz="2000" dirty="0" smtClean="0">
                <a:latin typeface="BIZ UDPゴシック" panose="020B0400000000000000" pitchFamily="50" charset="-128"/>
                <a:ea typeface="BIZ UDPゴシック" panose="020B0400000000000000" pitchFamily="50" charset="-128"/>
              </a:rPr>
              <a:t>『</a:t>
            </a:r>
            <a:r>
              <a:rPr lang="ja-JP" altLang="en-US" sz="2000" dirty="0" smtClean="0">
                <a:latin typeface="BIZ UDPゴシック" panose="020B0400000000000000" pitchFamily="50" charset="-128"/>
                <a:ea typeface="BIZ UDPゴシック" panose="020B0400000000000000" pitchFamily="50" charset="-128"/>
              </a:rPr>
              <a:t>５が入っていない</a:t>
            </a:r>
            <a:r>
              <a:rPr lang="en-US" altLang="ja-JP" sz="2000" dirty="0" smtClean="0">
                <a:latin typeface="BIZ UDPゴシック" panose="020B0400000000000000" pitchFamily="50" charset="-128"/>
                <a:ea typeface="BIZ UDPゴシック" panose="020B0400000000000000" pitchFamily="50" charset="-128"/>
              </a:rPr>
              <a:t>』</a:t>
            </a:r>
            <a:r>
              <a:rPr lang="ja-JP" altLang="en-US" sz="2000" dirty="0" smtClean="0">
                <a:latin typeface="BIZ UDPゴシック" panose="020B0400000000000000" pitchFamily="50" charset="-128"/>
                <a:ea typeface="BIZ UDPゴシック" panose="020B0400000000000000" pitchFamily="50" charset="-128"/>
              </a:rPr>
              <a:t>という意味</a:t>
            </a:r>
            <a:endParaRPr lang="en-US" altLang="ja-JP" sz="2000" dirty="0" smtClea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44382152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223525" y="355903"/>
            <a:ext cx="2767104" cy="553998"/>
          </a:xfrm>
          <a:prstGeom prst="rect">
            <a:avLst/>
          </a:prstGeom>
          <a:noFill/>
        </p:spPr>
        <p:txBody>
          <a:bodyPr wrap="none" rtlCol="0">
            <a:spAutoFit/>
          </a:bodyPr>
          <a:lstStyle/>
          <a:p>
            <a:pPr>
              <a:lnSpc>
                <a:spcPct val="150000"/>
              </a:lnSpc>
            </a:pPr>
            <a:r>
              <a:rPr lang="en-US" altLang="ja-JP" sz="2000" dirty="0" err="1" smtClean="0">
                <a:latin typeface="BIZ UDPゴシック" panose="020B0400000000000000" pitchFamily="50" charset="-128"/>
                <a:ea typeface="BIZ UDPゴシック" panose="020B0400000000000000" pitchFamily="50" charset="-128"/>
              </a:rPr>
              <a:t>CServer</a:t>
            </a:r>
            <a:r>
              <a:rPr lang="ja-JP" altLang="en-US" sz="2000" dirty="0" smtClean="0">
                <a:latin typeface="BIZ UDPゴシック" panose="020B0400000000000000" pitchFamily="50" charset="-128"/>
                <a:ea typeface="BIZ UDPゴシック" panose="020B0400000000000000" pitchFamily="50" charset="-128"/>
              </a:rPr>
              <a:t>クラスに追加</a:t>
            </a:r>
            <a:endParaRPr lang="en-US" altLang="ja-JP" sz="2000" dirty="0" smtClean="0">
              <a:latin typeface="BIZ UDPゴシック" panose="020B0400000000000000" pitchFamily="50" charset="-128"/>
              <a:ea typeface="BIZ UDPゴシック" panose="020B0400000000000000" pitchFamily="50" charset="-128"/>
            </a:endParaRPr>
          </a:p>
        </p:txBody>
      </p:sp>
      <p:pic>
        <p:nvPicPr>
          <p:cNvPr id="5" name="図 4"/>
          <p:cNvPicPr>
            <a:picLocks noChangeAspect="1"/>
          </p:cNvPicPr>
          <p:nvPr/>
        </p:nvPicPr>
        <p:blipFill>
          <a:blip r:embed="rId2"/>
          <a:stretch>
            <a:fillRect/>
          </a:stretch>
        </p:blipFill>
        <p:spPr>
          <a:xfrm>
            <a:off x="223525" y="1275660"/>
            <a:ext cx="8454962" cy="4196846"/>
          </a:xfrm>
          <a:prstGeom prst="rect">
            <a:avLst/>
          </a:prstGeom>
        </p:spPr>
      </p:pic>
    </p:spTree>
    <p:extLst>
      <p:ext uri="{BB962C8B-B14F-4D97-AF65-F5344CB8AC3E}">
        <p14:creationId xmlns:p14="http://schemas.microsoft.com/office/powerpoint/2010/main" val="327904506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240150" y="206274"/>
            <a:ext cx="8802410" cy="553998"/>
          </a:xfrm>
          <a:prstGeom prst="rect">
            <a:avLst/>
          </a:prstGeom>
          <a:noFill/>
        </p:spPr>
        <p:txBody>
          <a:bodyPr wrap="none" rtlCol="0">
            <a:spAutoFit/>
          </a:bodyPr>
          <a:lstStyle/>
          <a:p>
            <a:pPr>
              <a:lnSpc>
                <a:spcPct val="150000"/>
              </a:lnSpc>
            </a:pPr>
            <a:r>
              <a:rPr lang="en-US" altLang="ja-JP" sz="2000" dirty="0" err="1" smtClean="0">
                <a:latin typeface="BIZ UDPゴシック" panose="020B0400000000000000" pitchFamily="50" charset="-128"/>
                <a:ea typeface="BIZ UDPゴシック" panose="020B0400000000000000" pitchFamily="50" charset="-128"/>
              </a:rPr>
              <a:t>CDamageObj</a:t>
            </a:r>
            <a:r>
              <a:rPr lang="ja-JP" altLang="en-US" sz="2000" dirty="0" smtClean="0">
                <a:latin typeface="BIZ UDPゴシック" panose="020B0400000000000000" pitchFamily="50" charset="-128"/>
                <a:ea typeface="BIZ UDPゴシック" panose="020B0400000000000000" pitchFamily="50" charset="-128"/>
              </a:rPr>
              <a:t>クラスに敵管理</a:t>
            </a:r>
            <a:r>
              <a:rPr lang="en-US" altLang="ja-JP" sz="2000" dirty="0" smtClean="0">
                <a:latin typeface="BIZ UDPゴシック" panose="020B0400000000000000" pitchFamily="50" charset="-128"/>
                <a:ea typeface="BIZ UDPゴシック" panose="020B0400000000000000" pitchFamily="50" charset="-128"/>
              </a:rPr>
              <a:t>ID</a:t>
            </a:r>
            <a:r>
              <a:rPr lang="ja-JP" altLang="en-US" sz="2000" dirty="0" smtClean="0">
                <a:latin typeface="BIZ UDPゴシック" panose="020B0400000000000000" pitchFamily="50" charset="-128"/>
                <a:ea typeface="BIZ UDPゴシック" panose="020B0400000000000000" pitchFamily="50" charset="-128"/>
              </a:rPr>
              <a:t>を定義する。（サーバーとクライアント両方）</a:t>
            </a:r>
            <a:endParaRPr lang="en-US" altLang="ja-JP" sz="2000" dirty="0" smtClean="0">
              <a:latin typeface="BIZ UDPゴシック" panose="020B0400000000000000" pitchFamily="50" charset="-128"/>
              <a:ea typeface="BIZ UDPゴシック" panose="020B0400000000000000" pitchFamily="50" charset="-128"/>
            </a:endParaRPr>
          </a:p>
        </p:txBody>
      </p:sp>
      <p:pic>
        <p:nvPicPr>
          <p:cNvPr id="5" name="図 4"/>
          <p:cNvPicPr>
            <a:picLocks noChangeAspect="1"/>
          </p:cNvPicPr>
          <p:nvPr/>
        </p:nvPicPr>
        <p:blipFill>
          <a:blip r:embed="rId2"/>
          <a:stretch>
            <a:fillRect/>
          </a:stretch>
        </p:blipFill>
        <p:spPr>
          <a:xfrm>
            <a:off x="240150" y="998307"/>
            <a:ext cx="8773864" cy="4072456"/>
          </a:xfrm>
          <a:prstGeom prst="rect">
            <a:avLst/>
          </a:prstGeom>
        </p:spPr>
      </p:pic>
      <p:sp>
        <p:nvSpPr>
          <p:cNvPr id="6" name="テキスト ボックス 5"/>
          <p:cNvSpPr txBox="1"/>
          <p:nvPr/>
        </p:nvSpPr>
        <p:spPr>
          <a:xfrm>
            <a:off x="240150" y="5387281"/>
            <a:ext cx="8132354" cy="553998"/>
          </a:xfrm>
          <a:prstGeom prst="rect">
            <a:avLst/>
          </a:prstGeom>
          <a:noFill/>
        </p:spPr>
        <p:txBody>
          <a:bodyPr wrap="none" rtlCol="0">
            <a:spAutoFit/>
          </a:bodyPr>
          <a:lstStyle/>
          <a:p>
            <a:pPr>
              <a:lnSpc>
                <a:spcPct val="150000"/>
              </a:lnSpc>
            </a:pPr>
            <a:r>
              <a:rPr lang="ja-JP" altLang="en-US" sz="2000" dirty="0">
                <a:latin typeface="BIZ UDPゴシック" panose="020B0400000000000000" pitchFamily="50" charset="-128"/>
                <a:ea typeface="BIZ UDPゴシック" panose="020B0400000000000000" pitchFamily="50" charset="-128"/>
              </a:rPr>
              <a:t>将来的に</a:t>
            </a:r>
            <a:r>
              <a:rPr lang="ja-JP" altLang="en-US" sz="2000" dirty="0" smtClean="0">
                <a:latin typeface="BIZ UDPゴシック" panose="020B0400000000000000" pitchFamily="50" charset="-128"/>
                <a:ea typeface="BIZ UDPゴシック" panose="020B0400000000000000" pitchFamily="50" charset="-128"/>
              </a:rPr>
              <a:t>は、敵のクラスとして、</a:t>
            </a:r>
            <a:r>
              <a:rPr lang="en-US" altLang="ja-JP" sz="2000" dirty="0" err="1" smtClean="0">
                <a:latin typeface="BIZ UDPゴシック" panose="020B0400000000000000" pitchFamily="50" charset="-128"/>
                <a:ea typeface="BIZ UDPゴシック" panose="020B0400000000000000" pitchFamily="50" charset="-128"/>
              </a:rPr>
              <a:t>CDamageObj</a:t>
            </a:r>
            <a:r>
              <a:rPr lang="ja-JP" altLang="en-US" sz="2000" dirty="0" smtClean="0">
                <a:latin typeface="BIZ UDPゴシック" panose="020B0400000000000000" pitchFamily="50" charset="-128"/>
                <a:ea typeface="BIZ UDPゴシック" panose="020B0400000000000000" pitchFamily="50" charset="-128"/>
              </a:rPr>
              <a:t>から切り離しても良い。</a:t>
            </a:r>
            <a:endParaRPr lang="en-US" altLang="ja-JP" sz="2000" dirty="0" smtClea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9145727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57024" y="0"/>
            <a:ext cx="3972562" cy="937180"/>
          </a:xfrm>
          <a:prstGeom prst="rect">
            <a:avLst/>
          </a:prstGeom>
          <a:noFill/>
        </p:spPr>
        <p:txBody>
          <a:bodyPr wrap="none" rtlCol="0">
            <a:spAutoFit/>
          </a:bodyPr>
          <a:lstStyle/>
          <a:p>
            <a:pPr>
              <a:lnSpc>
                <a:spcPct val="150000"/>
              </a:lnSpc>
            </a:pPr>
            <a:r>
              <a:rPr lang="ja-JP" altLang="en-US" sz="2000" dirty="0" smtClean="0">
                <a:latin typeface="BIZ UDPゴシック" panose="020B0400000000000000" pitchFamily="50" charset="-128"/>
                <a:ea typeface="BIZ UDPゴシック" panose="020B0400000000000000" pitchFamily="50" charset="-128"/>
              </a:rPr>
              <a:t>敵の管理</a:t>
            </a:r>
            <a:r>
              <a:rPr lang="en-US" altLang="ja-JP" sz="2000" dirty="0" smtClean="0">
                <a:latin typeface="BIZ UDPゴシック" panose="020B0400000000000000" pitchFamily="50" charset="-128"/>
                <a:ea typeface="BIZ UDPゴシック" panose="020B0400000000000000" pitchFamily="50" charset="-128"/>
              </a:rPr>
              <a:t>ID</a:t>
            </a:r>
            <a:r>
              <a:rPr lang="ja-JP" altLang="en-US" sz="2000" dirty="0" smtClean="0">
                <a:latin typeface="BIZ UDPゴシック" panose="020B0400000000000000" pitchFamily="50" charset="-128"/>
                <a:ea typeface="BIZ UDPゴシック" panose="020B0400000000000000" pitchFamily="50" charset="-128"/>
              </a:rPr>
              <a:t>を発行する。</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en-US" altLang="ja-JP" sz="2000" dirty="0" smtClean="0">
                <a:latin typeface="BIZ UDPゴシック" panose="020B0400000000000000" pitchFamily="50" charset="-128"/>
                <a:ea typeface="BIZ UDPゴシック" panose="020B0400000000000000" pitchFamily="50" charset="-128"/>
              </a:rPr>
              <a:t>server.cpp</a:t>
            </a:r>
            <a:r>
              <a:rPr lang="ja-JP" altLang="en-US" sz="2000" dirty="0" smtClean="0">
                <a:latin typeface="BIZ UDPゴシック" panose="020B0400000000000000" pitchFamily="50" charset="-128"/>
                <a:ea typeface="BIZ UDPゴシック" panose="020B0400000000000000" pitchFamily="50" charset="-128"/>
              </a:rPr>
              <a:t>に処理を追加／変更</a:t>
            </a:r>
            <a:endParaRPr lang="en-US" altLang="ja-JP" sz="2000" dirty="0" smtClean="0">
              <a:latin typeface="BIZ UDPゴシック" panose="020B0400000000000000" pitchFamily="50" charset="-128"/>
              <a:ea typeface="BIZ UDPゴシック" panose="020B0400000000000000" pitchFamily="50" charset="-128"/>
            </a:endParaRPr>
          </a:p>
        </p:txBody>
      </p:sp>
      <p:sp>
        <p:nvSpPr>
          <p:cNvPr id="6" name="テキスト ボックス 5"/>
          <p:cNvSpPr txBox="1"/>
          <p:nvPr/>
        </p:nvSpPr>
        <p:spPr>
          <a:xfrm>
            <a:off x="96995" y="1257625"/>
            <a:ext cx="4429418" cy="475515"/>
          </a:xfrm>
          <a:prstGeom prst="rect">
            <a:avLst/>
          </a:prstGeom>
          <a:noFill/>
        </p:spPr>
        <p:txBody>
          <a:bodyPr wrap="none" rtlCol="0">
            <a:spAutoFit/>
          </a:bodyPr>
          <a:lstStyle/>
          <a:p>
            <a:pPr>
              <a:lnSpc>
                <a:spcPct val="150000"/>
              </a:lnSpc>
            </a:pPr>
            <a:r>
              <a:rPr lang="en-US" altLang="ja-JP" sz="2000" b="1" dirty="0" err="1" smtClean="0">
                <a:latin typeface="BIZ UDPゴシック" panose="020B0400000000000000" pitchFamily="50" charset="-128"/>
                <a:ea typeface="BIZ UDPゴシック" panose="020B0400000000000000" pitchFamily="50" charset="-128"/>
              </a:rPr>
              <a:t>CServer</a:t>
            </a:r>
            <a:r>
              <a:rPr lang="en-US" altLang="ja-JP" sz="2000" b="1" dirty="0" smtClean="0">
                <a:latin typeface="BIZ UDPゴシック" panose="020B0400000000000000" pitchFamily="50" charset="-128"/>
                <a:ea typeface="BIZ UDPゴシック" panose="020B0400000000000000" pitchFamily="50" charset="-128"/>
              </a:rPr>
              <a:t>::</a:t>
            </a:r>
            <a:r>
              <a:rPr lang="en-US" altLang="ja-JP" sz="2000" b="1" dirty="0" err="1" smtClean="0">
                <a:latin typeface="BIZ UDPゴシック" panose="020B0400000000000000" pitchFamily="50" charset="-128"/>
                <a:ea typeface="BIZ UDPゴシック" panose="020B0400000000000000" pitchFamily="50" charset="-128"/>
              </a:rPr>
              <a:t>GetEnemyID</a:t>
            </a:r>
            <a:r>
              <a:rPr lang="en-US" altLang="ja-JP" sz="2000" b="1" dirty="0" smtClean="0">
                <a:latin typeface="BIZ UDPゴシック" panose="020B0400000000000000" pitchFamily="50" charset="-128"/>
                <a:ea typeface="BIZ UDPゴシック" panose="020B0400000000000000" pitchFamily="50" charset="-128"/>
              </a:rPr>
              <a:t>( )</a:t>
            </a:r>
            <a:r>
              <a:rPr lang="ja-JP" altLang="en-US" sz="2000" b="1" dirty="0" smtClean="0">
                <a:latin typeface="BIZ UDPゴシック" panose="020B0400000000000000" pitchFamily="50" charset="-128"/>
                <a:ea typeface="BIZ UDPゴシック" panose="020B0400000000000000" pitchFamily="50" charset="-128"/>
              </a:rPr>
              <a:t>を</a:t>
            </a:r>
            <a:r>
              <a:rPr lang="ja-JP" altLang="en-US" sz="2000" b="1" dirty="0" smtClean="0">
                <a:solidFill>
                  <a:srgbClr val="FF0000"/>
                </a:solidFill>
                <a:latin typeface="BIZ UDPゴシック" panose="020B0400000000000000" pitchFamily="50" charset="-128"/>
                <a:ea typeface="BIZ UDPゴシック" panose="020B0400000000000000" pitchFamily="50" charset="-128"/>
              </a:rPr>
              <a:t>追加</a:t>
            </a:r>
            <a:endParaRPr lang="en-US" altLang="ja-JP" sz="2000" b="1" dirty="0" smtClean="0">
              <a:solidFill>
                <a:srgbClr val="FF0000"/>
              </a:solidFill>
              <a:latin typeface="BIZ UDPゴシック" panose="020B0400000000000000" pitchFamily="50" charset="-128"/>
              <a:ea typeface="BIZ UDPゴシック" panose="020B0400000000000000" pitchFamily="50" charset="-128"/>
            </a:endParaRPr>
          </a:p>
        </p:txBody>
      </p:sp>
      <p:pic>
        <p:nvPicPr>
          <p:cNvPr id="2" name="図 1"/>
          <p:cNvPicPr>
            <a:picLocks noChangeAspect="1"/>
          </p:cNvPicPr>
          <p:nvPr/>
        </p:nvPicPr>
        <p:blipFill>
          <a:blip r:embed="rId2"/>
          <a:stretch>
            <a:fillRect/>
          </a:stretch>
        </p:blipFill>
        <p:spPr>
          <a:xfrm>
            <a:off x="157024" y="1811623"/>
            <a:ext cx="9554576" cy="4136531"/>
          </a:xfrm>
          <a:prstGeom prst="rect">
            <a:avLst/>
          </a:prstGeom>
        </p:spPr>
      </p:pic>
    </p:spTree>
    <p:extLst>
      <p:ext uri="{BB962C8B-B14F-4D97-AF65-F5344CB8AC3E}">
        <p14:creationId xmlns:p14="http://schemas.microsoft.com/office/powerpoint/2010/main" val="9205633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57024" y="0"/>
            <a:ext cx="3972562" cy="553998"/>
          </a:xfrm>
          <a:prstGeom prst="rect">
            <a:avLst/>
          </a:prstGeom>
          <a:noFill/>
        </p:spPr>
        <p:txBody>
          <a:bodyPr wrap="none" rtlCol="0">
            <a:spAutoFit/>
          </a:bodyPr>
          <a:lstStyle/>
          <a:p>
            <a:pPr>
              <a:lnSpc>
                <a:spcPct val="150000"/>
              </a:lnSpc>
            </a:pPr>
            <a:r>
              <a:rPr lang="en-US" altLang="ja-JP" sz="2000" dirty="0" smtClean="0">
                <a:latin typeface="BIZ UDPゴシック" panose="020B0400000000000000" pitchFamily="50" charset="-128"/>
                <a:ea typeface="BIZ UDPゴシック" panose="020B0400000000000000" pitchFamily="50" charset="-128"/>
              </a:rPr>
              <a:t>server.cpp</a:t>
            </a:r>
            <a:r>
              <a:rPr lang="ja-JP" altLang="en-US" sz="2000" dirty="0" smtClean="0">
                <a:latin typeface="BIZ UDPゴシック" panose="020B0400000000000000" pitchFamily="50" charset="-128"/>
                <a:ea typeface="BIZ UDPゴシック" panose="020B0400000000000000" pitchFamily="50" charset="-128"/>
              </a:rPr>
              <a:t>に処理を追加／変更</a:t>
            </a:r>
            <a:endParaRPr lang="en-US" altLang="ja-JP" sz="2000" dirty="0" smtClean="0">
              <a:latin typeface="BIZ UDPゴシック" panose="020B0400000000000000" pitchFamily="50" charset="-128"/>
              <a:ea typeface="BIZ UDPゴシック" panose="020B0400000000000000" pitchFamily="50" charset="-128"/>
            </a:endParaRPr>
          </a:p>
        </p:txBody>
      </p:sp>
      <p:pic>
        <p:nvPicPr>
          <p:cNvPr id="5" name="図 4"/>
          <p:cNvPicPr>
            <a:picLocks noChangeAspect="1"/>
          </p:cNvPicPr>
          <p:nvPr/>
        </p:nvPicPr>
        <p:blipFill>
          <a:blip r:embed="rId2"/>
          <a:stretch>
            <a:fillRect/>
          </a:stretch>
        </p:blipFill>
        <p:spPr>
          <a:xfrm>
            <a:off x="157024" y="1088314"/>
            <a:ext cx="8288707" cy="5446865"/>
          </a:xfrm>
          <a:prstGeom prst="rect">
            <a:avLst/>
          </a:prstGeom>
        </p:spPr>
      </p:pic>
      <p:sp>
        <p:nvSpPr>
          <p:cNvPr id="6" name="テキスト ボックス 5"/>
          <p:cNvSpPr txBox="1"/>
          <p:nvPr/>
        </p:nvSpPr>
        <p:spPr>
          <a:xfrm>
            <a:off x="157024" y="473172"/>
            <a:ext cx="5415265" cy="553998"/>
          </a:xfrm>
          <a:prstGeom prst="rect">
            <a:avLst/>
          </a:prstGeom>
          <a:noFill/>
        </p:spPr>
        <p:txBody>
          <a:bodyPr wrap="none" rtlCol="0">
            <a:spAutoFit/>
          </a:bodyPr>
          <a:lstStyle/>
          <a:p>
            <a:pPr>
              <a:lnSpc>
                <a:spcPct val="150000"/>
              </a:lnSpc>
            </a:pPr>
            <a:r>
              <a:rPr lang="en-US" altLang="ja-JP" sz="2000" dirty="0" err="1" smtClean="0">
                <a:latin typeface="BIZ UDPゴシック" panose="020B0400000000000000" pitchFamily="50" charset="-128"/>
                <a:ea typeface="BIZ UDPゴシック" panose="020B0400000000000000" pitchFamily="50" charset="-128"/>
              </a:rPr>
              <a:t>CServer</a:t>
            </a:r>
            <a:r>
              <a:rPr lang="en-US" altLang="ja-JP" sz="2000" dirty="0" smtClean="0">
                <a:latin typeface="BIZ UDPゴシック" panose="020B0400000000000000" pitchFamily="50" charset="-128"/>
                <a:ea typeface="BIZ UDPゴシック" panose="020B0400000000000000" pitchFamily="50" charset="-128"/>
              </a:rPr>
              <a:t>::</a:t>
            </a:r>
            <a:r>
              <a:rPr lang="en-US" altLang="ja-JP" sz="2000" dirty="0" err="1" smtClean="0">
                <a:latin typeface="BIZ UDPゴシック" panose="020B0400000000000000" pitchFamily="50" charset="-128"/>
                <a:ea typeface="BIZ UDPゴシック" panose="020B0400000000000000" pitchFamily="50" charset="-128"/>
              </a:rPr>
              <a:t>SetEnemyData</a:t>
            </a:r>
            <a:r>
              <a:rPr lang="en-US" altLang="ja-JP" sz="2000" dirty="0" smtClean="0">
                <a:latin typeface="BIZ UDPゴシック" panose="020B0400000000000000" pitchFamily="50" charset="-128"/>
                <a:ea typeface="BIZ UDPゴシック" panose="020B0400000000000000" pitchFamily="50" charset="-128"/>
              </a:rPr>
              <a:t>( )</a:t>
            </a:r>
            <a:r>
              <a:rPr lang="ja-JP" altLang="en-US" sz="2000" dirty="0" smtClean="0">
                <a:latin typeface="BIZ UDPゴシック" panose="020B0400000000000000" pitchFamily="50" charset="-128"/>
                <a:ea typeface="BIZ UDPゴシック" panose="020B0400000000000000" pitchFamily="50" charset="-128"/>
              </a:rPr>
              <a:t>の処理を</a:t>
            </a:r>
            <a:r>
              <a:rPr lang="ja-JP" altLang="en-US" sz="2000" dirty="0">
                <a:latin typeface="BIZ UDPゴシック" panose="020B0400000000000000" pitchFamily="50" charset="-128"/>
                <a:ea typeface="BIZ UDPゴシック" panose="020B0400000000000000" pitchFamily="50" charset="-128"/>
              </a:rPr>
              <a:t>変更</a:t>
            </a:r>
            <a:endParaRPr lang="en-US" altLang="ja-JP" sz="2000" dirty="0" smtClea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64813404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p:cNvSpPr txBox="1"/>
          <p:nvPr/>
        </p:nvSpPr>
        <p:spPr>
          <a:xfrm>
            <a:off x="7259615" y="2792302"/>
            <a:ext cx="4732879" cy="2783839"/>
          </a:xfrm>
          <a:prstGeom prst="rect">
            <a:avLst/>
          </a:prstGeom>
          <a:noFill/>
        </p:spPr>
        <p:txBody>
          <a:bodyPr wrap="square" rtlCol="0">
            <a:spAutoFit/>
          </a:bodyPr>
          <a:lstStyle/>
          <a:p>
            <a:pPr>
              <a:lnSpc>
                <a:spcPct val="150000"/>
              </a:lnSpc>
            </a:pPr>
            <a:r>
              <a:rPr lang="ja-JP" altLang="en-US" sz="2000" dirty="0" smtClean="0">
                <a:latin typeface="BIZ UDPゴシック" panose="020B0400000000000000" pitchFamily="50" charset="-128"/>
                <a:ea typeface="BIZ UDPゴシック" panose="020B0400000000000000" pitchFamily="50" charset="-128"/>
              </a:rPr>
              <a:t>　次にクライアント側の処理として、受け取ったデータからデータの</a:t>
            </a:r>
            <a:r>
              <a:rPr lang="en-US" altLang="ja-JP" sz="2000" dirty="0" err="1" smtClean="0">
                <a:latin typeface="BIZ UDPゴシック" panose="020B0400000000000000" pitchFamily="50" charset="-128"/>
                <a:ea typeface="BIZ UDPゴシック" panose="020B0400000000000000" pitchFamily="50" charset="-128"/>
              </a:rPr>
              <a:t>enemyID</a:t>
            </a:r>
            <a:r>
              <a:rPr lang="ja-JP" altLang="en-US" sz="2000" dirty="0" smtClean="0">
                <a:latin typeface="BIZ UDPゴシック" panose="020B0400000000000000" pitchFamily="50" charset="-128"/>
                <a:ea typeface="BIZ UDPゴシック" panose="020B0400000000000000" pitchFamily="50" charset="-128"/>
              </a:rPr>
              <a:t>をチェックして、存在して</a:t>
            </a:r>
            <a:r>
              <a:rPr lang="ja-JP" altLang="en-US" sz="2000" dirty="0" err="1" smtClean="0">
                <a:latin typeface="BIZ UDPゴシック" panose="020B0400000000000000" pitchFamily="50" charset="-128"/>
                <a:ea typeface="BIZ UDPゴシック" panose="020B0400000000000000" pitchFamily="50" charset="-128"/>
              </a:rPr>
              <a:t>いるかして</a:t>
            </a:r>
            <a:r>
              <a:rPr lang="ja-JP" altLang="en-US" sz="2000" dirty="0" smtClean="0">
                <a:latin typeface="BIZ UDPゴシック" panose="020B0400000000000000" pitchFamily="50" charset="-128"/>
                <a:ea typeface="BIZ UDPゴシック" panose="020B0400000000000000" pitchFamily="50" charset="-128"/>
              </a:rPr>
              <a:t>いないかをチェックする。もし該当する</a:t>
            </a:r>
            <a:r>
              <a:rPr lang="en-US" altLang="ja-JP" sz="2000" dirty="0" smtClean="0">
                <a:latin typeface="BIZ UDPゴシック" panose="020B0400000000000000" pitchFamily="50" charset="-128"/>
                <a:ea typeface="BIZ UDPゴシック" panose="020B0400000000000000" pitchFamily="50" charset="-128"/>
              </a:rPr>
              <a:t>ID</a:t>
            </a:r>
            <a:r>
              <a:rPr lang="ja-JP" altLang="en-US" sz="2000" dirty="0" smtClean="0">
                <a:latin typeface="BIZ UDPゴシック" panose="020B0400000000000000" pitchFamily="50" charset="-128"/>
                <a:ea typeface="BIZ UDPゴシック" panose="020B0400000000000000" pitchFamily="50" charset="-128"/>
              </a:rPr>
              <a:t>がない場合は、敵を新規作成し、ある場合はその敵の情報を更新する。</a:t>
            </a:r>
            <a:endParaRPr lang="en-US" altLang="ja-JP" sz="2000" dirty="0" smtClean="0">
              <a:latin typeface="BIZ UDPゴシック" panose="020B0400000000000000" pitchFamily="50" charset="-128"/>
              <a:ea typeface="BIZ UDPゴシック" panose="020B0400000000000000" pitchFamily="50" charset="-128"/>
            </a:endParaRPr>
          </a:p>
        </p:txBody>
      </p:sp>
      <p:pic>
        <p:nvPicPr>
          <p:cNvPr id="2" name="図 1"/>
          <p:cNvPicPr>
            <a:picLocks noChangeAspect="1"/>
          </p:cNvPicPr>
          <p:nvPr/>
        </p:nvPicPr>
        <p:blipFill>
          <a:blip r:embed="rId2"/>
          <a:stretch>
            <a:fillRect/>
          </a:stretch>
        </p:blipFill>
        <p:spPr>
          <a:xfrm>
            <a:off x="177172" y="185290"/>
            <a:ext cx="6955148" cy="6564683"/>
          </a:xfrm>
          <a:prstGeom prst="rect">
            <a:avLst/>
          </a:prstGeom>
        </p:spPr>
      </p:pic>
      <p:sp>
        <p:nvSpPr>
          <p:cNvPr id="7" name="テキスト ボックス 6"/>
          <p:cNvSpPr txBox="1"/>
          <p:nvPr/>
        </p:nvSpPr>
        <p:spPr>
          <a:xfrm>
            <a:off x="7259615" y="185290"/>
            <a:ext cx="4732879" cy="2400657"/>
          </a:xfrm>
          <a:prstGeom prst="rect">
            <a:avLst/>
          </a:prstGeom>
          <a:noFill/>
        </p:spPr>
        <p:txBody>
          <a:bodyPr wrap="square" rtlCol="0">
            <a:spAutoFit/>
          </a:bodyPr>
          <a:lstStyle/>
          <a:p>
            <a:pPr>
              <a:lnSpc>
                <a:spcPct val="150000"/>
              </a:lnSpc>
            </a:pPr>
            <a:r>
              <a:rPr lang="ja-JP" altLang="en-US" sz="2000" dirty="0" smtClean="0">
                <a:latin typeface="BIZ UDPゴシック" panose="020B0400000000000000" pitchFamily="50" charset="-128"/>
                <a:ea typeface="BIZ UDPゴシック" panose="020B0400000000000000" pitchFamily="50" charset="-128"/>
              </a:rPr>
              <a:t>　</a:t>
            </a:r>
            <a:r>
              <a:rPr lang="en-US" altLang="ja-JP" sz="2000" dirty="0" err="1" smtClean="0">
                <a:latin typeface="BIZ UDPゴシック" panose="020B0400000000000000" pitchFamily="50" charset="-128"/>
                <a:ea typeface="BIZ UDPゴシック" panose="020B0400000000000000" pitchFamily="50" charset="-128"/>
              </a:rPr>
              <a:t>CClient:Update</a:t>
            </a:r>
            <a:r>
              <a:rPr lang="en-US" altLang="ja-JP" sz="2000" dirty="0" smtClean="0">
                <a:latin typeface="BIZ UDPゴシック" panose="020B0400000000000000" pitchFamily="50" charset="-128"/>
                <a:ea typeface="BIZ UDPゴシック" panose="020B0400000000000000" pitchFamily="50" charset="-128"/>
              </a:rPr>
              <a:t>( )</a:t>
            </a:r>
            <a:r>
              <a:rPr lang="ja-JP" altLang="en-US" sz="2000" dirty="0" smtClean="0">
                <a:latin typeface="BIZ UDPゴシック" panose="020B0400000000000000" pitchFamily="50" charset="-128"/>
                <a:ea typeface="BIZ UDPゴシック" panose="020B0400000000000000" pitchFamily="50" charset="-128"/>
              </a:rPr>
              <a:t>に追加</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endParaRPr lang="en-US" altLang="ja-JP" sz="2000" dirty="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とりあえず、接続プレイヤーの生成チェックの下に追加</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endParaRPr lang="en-US" altLang="ja-JP" sz="2000" dirty="0" smtClea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3421423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p:cNvSpPr txBox="1"/>
          <p:nvPr/>
        </p:nvSpPr>
        <p:spPr>
          <a:xfrm>
            <a:off x="195935" y="175098"/>
            <a:ext cx="10206640" cy="1015663"/>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nSpc>
                <a:spcPct val="150000"/>
              </a:lnSpc>
            </a:pPr>
            <a:r>
              <a:rPr lang="ja-JP" altLang="en-US" sz="2000" dirty="0" smtClean="0">
                <a:solidFill>
                  <a:srgbClr val="FF0000"/>
                </a:solidFill>
                <a:latin typeface="BIZ UDPゴシック" panose="020B0400000000000000" pitchFamily="50" charset="-128"/>
                <a:ea typeface="BIZ UDPゴシック" panose="020B0400000000000000" pitchFamily="50" charset="-128"/>
              </a:rPr>
              <a:t>実行して動作確認。</a:t>
            </a:r>
            <a:endParaRPr lang="en-US" altLang="ja-JP" sz="2000" dirty="0" smtClean="0">
              <a:solidFill>
                <a:srgbClr val="FF0000"/>
              </a:solidFill>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solidFill>
                  <a:srgbClr val="FF0000"/>
                </a:solidFill>
                <a:latin typeface="BIZ UDPゴシック" panose="020B0400000000000000" pitchFamily="50" charset="-128"/>
                <a:ea typeface="BIZ UDPゴシック" panose="020B0400000000000000" pitchFamily="50" charset="-128"/>
              </a:rPr>
              <a:t>サーバー側で敵を移動させると（ダメージを与える）、クライアント側の敵の位置も変わる。</a:t>
            </a:r>
            <a:endParaRPr lang="en-US" altLang="ja-JP" sz="2000" dirty="0" smtClean="0">
              <a:solidFill>
                <a:srgbClr val="FF0000"/>
              </a:solidFill>
              <a:latin typeface="BIZ UDPゴシック" panose="020B0400000000000000" pitchFamily="50" charset="-128"/>
              <a:ea typeface="BIZ UDPゴシック" panose="020B0400000000000000" pitchFamily="50" charset="-128"/>
            </a:endParaRPr>
          </a:p>
        </p:txBody>
      </p:sp>
      <p:sp>
        <p:nvSpPr>
          <p:cNvPr id="4" name="テキスト ボックス 3"/>
          <p:cNvSpPr txBox="1"/>
          <p:nvPr/>
        </p:nvSpPr>
        <p:spPr>
          <a:xfrm>
            <a:off x="195935" y="1343161"/>
            <a:ext cx="8175636" cy="553998"/>
          </a:xfrm>
          <a:prstGeom prst="rect">
            <a:avLst/>
          </a:prstGeom>
          <a:noFill/>
        </p:spPr>
        <p:txBody>
          <a:bodyPr wrap="none" rtlCol="0">
            <a:spAutoFit/>
          </a:bodyPr>
          <a:lstStyle/>
          <a:p>
            <a:pPr>
              <a:lnSpc>
                <a:spcPct val="150000"/>
              </a:lnSpc>
            </a:pPr>
            <a:r>
              <a:rPr lang="ja-JP" altLang="en-US" sz="2000" dirty="0" smtClean="0">
                <a:latin typeface="BIZ UDPゴシック" panose="020B0400000000000000" pitchFamily="50" charset="-128"/>
                <a:ea typeface="BIZ UDPゴシック" panose="020B0400000000000000" pitchFamily="50" charset="-128"/>
              </a:rPr>
              <a:t>このタイミングで、敵の情報クラスを作って、別で管理するようにします。</a:t>
            </a:r>
            <a:endParaRPr lang="en-US" altLang="ja-JP" sz="2000" dirty="0" smtClean="0">
              <a:latin typeface="BIZ UDPゴシック" panose="020B0400000000000000" pitchFamily="50" charset="-128"/>
              <a:ea typeface="BIZ UDPゴシック" panose="020B0400000000000000" pitchFamily="50" charset="-128"/>
            </a:endParaRPr>
          </a:p>
        </p:txBody>
      </p:sp>
      <p:sp>
        <p:nvSpPr>
          <p:cNvPr id="7" name="テキスト ボックス 6"/>
          <p:cNvSpPr txBox="1"/>
          <p:nvPr/>
        </p:nvSpPr>
        <p:spPr>
          <a:xfrm>
            <a:off x="195935" y="1744759"/>
            <a:ext cx="5907386" cy="553998"/>
          </a:xfrm>
          <a:prstGeom prst="rect">
            <a:avLst/>
          </a:prstGeom>
          <a:noFill/>
        </p:spPr>
        <p:txBody>
          <a:bodyPr wrap="none" rtlCol="0">
            <a:spAutoFit/>
          </a:bodyPr>
          <a:lstStyle/>
          <a:p>
            <a:pPr>
              <a:lnSpc>
                <a:spcPct val="150000"/>
              </a:lnSpc>
            </a:pPr>
            <a:r>
              <a:rPr lang="en-US" altLang="ja-JP" sz="2000" dirty="0" err="1" smtClean="0">
                <a:latin typeface="BIZ UDPゴシック" panose="020B0400000000000000" pitchFamily="50" charset="-128"/>
                <a:ea typeface="BIZ UDPゴシック" panose="020B0400000000000000" pitchFamily="50" charset="-128"/>
              </a:rPr>
              <a:t>damageObj.h</a:t>
            </a:r>
            <a:r>
              <a:rPr lang="ja-JP" altLang="en-US" sz="2000" dirty="0" smtClean="0">
                <a:latin typeface="BIZ UDPゴシック" panose="020B0400000000000000" pitchFamily="50" charset="-128"/>
                <a:ea typeface="BIZ UDPゴシック" panose="020B0400000000000000" pitchFamily="50" charset="-128"/>
              </a:rPr>
              <a:t>の</a:t>
            </a:r>
            <a:r>
              <a:rPr lang="en-US" altLang="ja-JP" sz="2000" dirty="0" err="1" smtClean="0">
                <a:latin typeface="BIZ UDPゴシック" panose="020B0400000000000000" pitchFamily="50" charset="-128"/>
                <a:ea typeface="BIZ UDPゴシック" panose="020B0400000000000000" pitchFamily="50" charset="-128"/>
              </a:rPr>
              <a:t>CDamageObj</a:t>
            </a:r>
            <a:r>
              <a:rPr lang="ja-JP" altLang="en-US" sz="2000" dirty="0" smtClean="0">
                <a:latin typeface="BIZ UDPゴシック" panose="020B0400000000000000" pitchFamily="50" charset="-128"/>
                <a:ea typeface="BIZ UDPゴシック" panose="020B0400000000000000" pitchFamily="50" charset="-128"/>
              </a:rPr>
              <a:t>の</a:t>
            </a:r>
            <a:r>
              <a:rPr lang="ja-JP" altLang="en-US" sz="2000" dirty="0">
                <a:latin typeface="BIZ UDPゴシック" panose="020B0400000000000000" pitchFamily="50" charset="-128"/>
                <a:ea typeface="BIZ UDPゴシック" panose="020B0400000000000000" pitchFamily="50" charset="-128"/>
              </a:rPr>
              <a:t>定義を</a:t>
            </a:r>
            <a:r>
              <a:rPr lang="ja-JP" altLang="en-US" sz="2000" dirty="0" smtClean="0">
                <a:latin typeface="BIZ UDPゴシック" panose="020B0400000000000000" pitchFamily="50" charset="-128"/>
                <a:ea typeface="BIZ UDPゴシック" panose="020B0400000000000000" pitchFamily="50" charset="-128"/>
              </a:rPr>
              <a:t>変更</a:t>
            </a:r>
            <a:endParaRPr lang="en-US" altLang="ja-JP" sz="2000" dirty="0" smtClean="0">
              <a:latin typeface="BIZ UDPゴシック" panose="020B0400000000000000" pitchFamily="50" charset="-128"/>
              <a:ea typeface="BIZ UDPゴシック" panose="020B0400000000000000" pitchFamily="50" charset="-128"/>
            </a:endParaRPr>
          </a:p>
        </p:txBody>
      </p:sp>
      <p:pic>
        <p:nvPicPr>
          <p:cNvPr id="3" name="図 2"/>
          <p:cNvPicPr>
            <a:picLocks noChangeAspect="1"/>
          </p:cNvPicPr>
          <p:nvPr/>
        </p:nvPicPr>
        <p:blipFill>
          <a:blip r:embed="rId2"/>
          <a:stretch>
            <a:fillRect/>
          </a:stretch>
        </p:blipFill>
        <p:spPr>
          <a:xfrm>
            <a:off x="195935" y="2298757"/>
            <a:ext cx="6342025" cy="4359373"/>
          </a:xfrm>
          <a:prstGeom prst="rect">
            <a:avLst/>
          </a:prstGeom>
        </p:spPr>
      </p:pic>
    </p:spTree>
    <p:extLst>
      <p:ext uri="{BB962C8B-B14F-4D97-AF65-F5344CB8AC3E}">
        <p14:creationId xmlns:p14="http://schemas.microsoft.com/office/powerpoint/2010/main" val="125781463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a:blip r:embed="rId2"/>
          <a:stretch>
            <a:fillRect/>
          </a:stretch>
        </p:blipFill>
        <p:spPr>
          <a:xfrm>
            <a:off x="165455" y="1110037"/>
            <a:ext cx="9541836" cy="4315403"/>
          </a:xfrm>
          <a:prstGeom prst="rect">
            <a:avLst/>
          </a:prstGeom>
        </p:spPr>
      </p:pic>
      <p:sp>
        <p:nvSpPr>
          <p:cNvPr id="5" name="テキスト ボックス 4"/>
          <p:cNvSpPr txBox="1"/>
          <p:nvPr/>
        </p:nvSpPr>
        <p:spPr>
          <a:xfrm>
            <a:off x="165455" y="312199"/>
            <a:ext cx="3996607" cy="553998"/>
          </a:xfrm>
          <a:prstGeom prst="rect">
            <a:avLst/>
          </a:prstGeom>
          <a:noFill/>
        </p:spPr>
        <p:txBody>
          <a:bodyPr wrap="none" rtlCol="0">
            <a:spAutoFit/>
          </a:bodyPr>
          <a:lstStyle/>
          <a:p>
            <a:pPr>
              <a:lnSpc>
                <a:spcPct val="150000"/>
              </a:lnSpc>
            </a:pPr>
            <a:r>
              <a:rPr lang="en-US" altLang="ja-JP" sz="2000" dirty="0" err="1" smtClean="0">
                <a:latin typeface="BIZ UDPゴシック" panose="020B0400000000000000" pitchFamily="50" charset="-128"/>
                <a:ea typeface="BIZ UDPゴシック" panose="020B0400000000000000" pitchFamily="50" charset="-128"/>
              </a:rPr>
              <a:t>COctrock</a:t>
            </a:r>
            <a:r>
              <a:rPr lang="ja-JP" altLang="en-US" sz="2000" dirty="0" smtClean="0">
                <a:latin typeface="BIZ UDPゴシック" panose="020B0400000000000000" pitchFamily="50" charset="-128"/>
                <a:ea typeface="BIZ UDPゴシック" panose="020B0400000000000000" pitchFamily="50" charset="-128"/>
              </a:rPr>
              <a:t>クラス</a:t>
            </a:r>
            <a:r>
              <a:rPr lang="ja-JP" altLang="en-US" sz="2000" dirty="0">
                <a:latin typeface="BIZ UDPゴシック" panose="020B0400000000000000" pitchFamily="50" charset="-128"/>
                <a:ea typeface="BIZ UDPゴシック" panose="020B0400000000000000" pitchFamily="50" charset="-128"/>
              </a:rPr>
              <a:t>へ</a:t>
            </a:r>
            <a:r>
              <a:rPr lang="ja-JP" altLang="en-US" sz="2000" dirty="0" smtClean="0">
                <a:latin typeface="BIZ UDPゴシック" panose="020B0400000000000000" pitchFamily="50" charset="-128"/>
                <a:ea typeface="BIZ UDPゴシック" panose="020B0400000000000000" pitchFamily="50" charset="-128"/>
              </a:rPr>
              <a:t>の継承を追加</a:t>
            </a:r>
            <a:endParaRPr lang="en-US" altLang="ja-JP" sz="2000" dirty="0" smtClea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287103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a:blip r:embed="rId2"/>
          <a:stretch>
            <a:fillRect/>
          </a:stretch>
        </p:blipFill>
        <p:spPr>
          <a:xfrm>
            <a:off x="219608" y="850957"/>
            <a:ext cx="10855367" cy="5108409"/>
          </a:xfrm>
          <a:prstGeom prst="rect">
            <a:avLst/>
          </a:prstGeom>
        </p:spPr>
      </p:pic>
      <p:sp>
        <p:nvSpPr>
          <p:cNvPr id="6" name="テキスト ボックス 5"/>
          <p:cNvSpPr txBox="1"/>
          <p:nvPr/>
        </p:nvSpPr>
        <p:spPr>
          <a:xfrm>
            <a:off x="219609" y="165580"/>
            <a:ext cx="6585457" cy="553998"/>
          </a:xfrm>
          <a:prstGeom prst="rect">
            <a:avLst/>
          </a:prstGeom>
          <a:noFill/>
        </p:spPr>
        <p:txBody>
          <a:bodyPr wrap="none" rtlCol="0">
            <a:spAutoFit/>
          </a:bodyPr>
          <a:lstStyle/>
          <a:p>
            <a:pPr>
              <a:lnSpc>
                <a:spcPct val="150000"/>
              </a:lnSpc>
            </a:pPr>
            <a:r>
              <a:rPr lang="ja-JP" altLang="en-US" sz="2000" dirty="0" smtClean="0">
                <a:latin typeface="BIZ UDPゴシック" panose="020B0400000000000000" pitchFamily="50" charset="-128"/>
                <a:ea typeface="BIZ UDPゴシック" panose="020B0400000000000000" pitchFamily="50" charset="-128"/>
              </a:rPr>
              <a:t>クライアントの</a:t>
            </a:r>
            <a:r>
              <a:rPr lang="en-US" altLang="ja-JP" sz="2000" dirty="0" smtClean="0">
                <a:latin typeface="BIZ UDPゴシック" panose="020B0400000000000000" pitchFamily="50" charset="-128"/>
                <a:ea typeface="BIZ UDPゴシック" panose="020B0400000000000000" pitchFamily="50" charset="-128"/>
              </a:rPr>
              <a:t>game.cpp</a:t>
            </a:r>
            <a:r>
              <a:rPr lang="ja-JP" altLang="en-US" sz="2000" dirty="0" smtClean="0">
                <a:latin typeface="BIZ UDPゴシック" panose="020B0400000000000000" pitchFamily="50" charset="-128"/>
                <a:ea typeface="BIZ UDPゴシック" panose="020B0400000000000000" pitchFamily="50" charset="-128"/>
              </a:rPr>
              <a:t>の</a:t>
            </a:r>
            <a:r>
              <a:rPr lang="en-US" altLang="ja-JP" sz="2000" dirty="0" err="1" smtClean="0">
                <a:latin typeface="BIZ UDPゴシック" panose="020B0400000000000000" pitchFamily="50" charset="-128"/>
                <a:ea typeface="BIZ UDPゴシック" panose="020B0400000000000000" pitchFamily="50" charset="-128"/>
              </a:rPr>
              <a:t>FindGame</a:t>
            </a:r>
            <a:r>
              <a:rPr lang="ja-JP" altLang="en-US" sz="2000" dirty="0" smtClean="0">
                <a:latin typeface="BIZ UDPゴシック" panose="020B0400000000000000" pitchFamily="50" charset="-128"/>
                <a:ea typeface="BIZ UDPゴシック" panose="020B0400000000000000" pitchFamily="50" charset="-128"/>
              </a:rPr>
              <a:t>（）の</a:t>
            </a:r>
            <a:r>
              <a:rPr lang="ja-JP" altLang="en-US" sz="2000" dirty="0">
                <a:latin typeface="BIZ UDPゴシック" panose="020B0400000000000000" pitchFamily="50" charset="-128"/>
                <a:ea typeface="BIZ UDPゴシック" panose="020B0400000000000000" pitchFamily="50" charset="-128"/>
              </a:rPr>
              <a:t>処理</a:t>
            </a:r>
            <a:r>
              <a:rPr lang="ja-JP" altLang="en-US" sz="2000" dirty="0" smtClean="0">
                <a:latin typeface="BIZ UDPゴシック" panose="020B0400000000000000" pitchFamily="50" charset="-128"/>
                <a:ea typeface="BIZ UDPゴシック" panose="020B0400000000000000" pitchFamily="50" charset="-128"/>
              </a:rPr>
              <a:t>を修正</a:t>
            </a:r>
            <a:endParaRPr lang="en-US" altLang="ja-JP" sz="2000" dirty="0" smtClea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593117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72313" y="165580"/>
            <a:ext cx="9754593" cy="1015663"/>
          </a:xfrm>
          <a:prstGeom prst="rect">
            <a:avLst/>
          </a:prstGeom>
          <a:noFill/>
        </p:spPr>
        <p:txBody>
          <a:bodyPr wrap="none" rtlCol="0">
            <a:spAutoFit/>
          </a:bodyPr>
          <a:lstStyle/>
          <a:p>
            <a:pPr>
              <a:lnSpc>
                <a:spcPct val="150000"/>
              </a:lnSpc>
            </a:pPr>
            <a:r>
              <a:rPr lang="ja-JP" altLang="en-US" sz="2000" dirty="0">
                <a:latin typeface="BIZ UDPゴシック" panose="020B0400000000000000" pitchFamily="50" charset="-128"/>
                <a:ea typeface="BIZ UDPゴシック" panose="020B0400000000000000" pitchFamily="50" charset="-128"/>
              </a:rPr>
              <a:t>ここまでで</a:t>
            </a:r>
            <a:r>
              <a:rPr lang="ja-JP" altLang="en-US" sz="2000" dirty="0" smtClean="0">
                <a:latin typeface="BIZ UDPゴシック" panose="020B0400000000000000" pitchFamily="50" charset="-128"/>
                <a:ea typeface="BIZ UDPゴシック" panose="020B0400000000000000" pitchFamily="50" charset="-128"/>
              </a:rPr>
              <a:t>、クライアントで</a:t>
            </a:r>
            <a:r>
              <a:rPr lang="en-US" altLang="ja-JP" sz="2000" dirty="0" err="1" smtClean="0">
                <a:latin typeface="BIZ UDPゴシック" panose="020B0400000000000000" pitchFamily="50" charset="-128"/>
                <a:ea typeface="BIZ UDPゴシック" panose="020B0400000000000000" pitchFamily="50" charset="-128"/>
              </a:rPr>
              <a:t>enemyID</a:t>
            </a:r>
            <a:r>
              <a:rPr lang="ja-JP" altLang="en-US" sz="2000" dirty="0" smtClean="0">
                <a:latin typeface="BIZ UDPゴシック" panose="020B0400000000000000" pitchFamily="50" charset="-128"/>
                <a:ea typeface="BIZ UDPゴシック" panose="020B0400000000000000" pitchFamily="50" charset="-128"/>
              </a:rPr>
              <a:t>を使って削除や生成などができるようになる。</a:t>
            </a:r>
            <a:endParaRPr lang="en-US" altLang="ja-JP" sz="2000" dirty="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次に、サーバーで敵の</a:t>
            </a:r>
            <a:r>
              <a:rPr lang="en-US" altLang="ja-JP" sz="2000" dirty="0" smtClean="0">
                <a:latin typeface="BIZ UDPゴシック" panose="020B0400000000000000" pitchFamily="50" charset="-128"/>
                <a:ea typeface="BIZ UDPゴシック" panose="020B0400000000000000" pitchFamily="50" charset="-128"/>
              </a:rPr>
              <a:t>HP</a:t>
            </a:r>
            <a:r>
              <a:rPr lang="ja-JP" altLang="en-US" sz="2000" dirty="0" smtClean="0">
                <a:latin typeface="BIZ UDPゴシック" panose="020B0400000000000000" pitchFamily="50" charset="-128"/>
                <a:ea typeface="BIZ UDPゴシック" panose="020B0400000000000000" pitchFamily="50" charset="-128"/>
              </a:rPr>
              <a:t>がなくなった時に</a:t>
            </a:r>
            <a:r>
              <a:rPr lang="en-US" altLang="ja-JP" sz="2000" dirty="0" err="1" smtClean="0">
                <a:latin typeface="BIZ UDPゴシック" panose="020B0400000000000000" pitchFamily="50" charset="-128"/>
                <a:ea typeface="BIZ UDPゴシック" panose="020B0400000000000000" pitchFamily="50" charset="-128"/>
              </a:rPr>
              <a:t>enemyID</a:t>
            </a:r>
            <a:r>
              <a:rPr lang="ja-JP" altLang="en-US" sz="2000" dirty="0" smtClean="0">
                <a:latin typeface="BIZ UDPゴシック" panose="020B0400000000000000" pitchFamily="50" charset="-128"/>
                <a:ea typeface="BIZ UDPゴシック" panose="020B0400000000000000" pitchFamily="50" charset="-128"/>
              </a:rPr>
              <a:t>を</a:t>
            </a:r>
            <a:r>
              <a:rPr lang="en-US" altLang="ja-JP" sz="2000" dirty="0" smtClean="0">
                <a:latin typeface="BIZ UDPゴシック" panose="020B0400000000000000" pitchFamily="50" charset="-128"/>
                <a:ea typeface="BIZ UDPゴシック" panose="020B0400000000000000" pitchFamily="50" charset="-128"/>
              </a:rPr>
              <a:t>-1</a:t>
            </a:r>
            <a:r>
              <a:rPr lang="ja-JP" altLang="en-US" sz="2000" dirty="0" smtClean="0">
                <a:latin typeface="BIZ UDPゴシック" panose="020B0400000000000000" pitchFamily="50" charset="-128"/>
                <a:ea typeface="BIZ UDPゴシック" panose="020B0400000000000000" pitchFamily="50" charset="-128"/>
              </a:rPr>
              <a:t>にして、削除状態にします。</a:t>
            </a:r>
            <a:endParaRPr lang="en-US" altLang="ja-JP" sz="2000" dirty="0" smtClean="0">
              <a:latin typeface="BIZ UDPゴシック" panose="020B0400000000000000" pitchFamily="50" charset="-128"/>
              <a:ea typeface="BIZ UDPゴシック" panose="020B0400000000000000" pitchFamily="50" charset="-128"/>
            </a:endParaRPr>
          </a:p>
        </p:txBody>
      </p:sp>
      <p:pic>
        <p:nvPicPr>
          <p:cNvPr id="6" name="図 5"/>
          <p:cNvPicPr>
            <a:picLocks noChangeAspect="1"/>
          </p:cNvPicPr>
          <p:nvPr/>
        </p:nvPicPr>
        <p:blipFill>
          <a:blip r:embed="rId2"/>
          <a:stretch>
            <a:fillRect/>
          </a:stretch>
        </p:blipFill>
        <p:spPr>
          <a:xfrm>
            <a:off x="172312" y="2093804"/>
            <a:ext cx="8936871" cy="3834029"/>
          </a:xfrm>
          <a:prstGeom prst="rect">
            <a:avLst/>
          </a:prstGeom>
        </p:spPr>
      </p:pic>
      <p:sp>
        <p:nvSpPr>
          <p:cNvPr id="7" name="テキスト ボックス 6"/>
          <p:cNvSpPr txBox="1"/>
          <p:nvPr/>
        </p:nvSpPr>
        <p:spPr>
          <a:xfrm>
            <a:off x="172312" y="1360525"/>
            <a:ext cx="5697394" cy="553998"/>
          </a:xfrm>
          <a:prstGeom prst="rect">
            <a:avLst/>
          </a:prstGeom>
          <a:noFill/>
        </p:spPr>
        <p:txBody>
          <a:bodyPr wrap="none" rtlCol="0">
            <a:spAutoFit/>
          </a:bodyPr>
          <a:lstStyle/>
          <a:p>
            <a:pPr>
              <a:lnSpc>
                <a:spcPct val="150000"/>
              </a:lnSpc>
            </a:pPr>
            <a:r>
              <a:rPr lang="ja-JP" altLang="en-US" sz="2000" dirty="0" smtClean="0">
                <a:latin typeface="BIZ UDPゴシック" panose="020B0400000000000000" pitchFamily="50" charset="-128"/>
                <a:ea typeface="BIZ UDPゴシック" panose="020B0400000000000000" pitchFamily="50" charset="-128"/>
              </a:rPr>
              <a:t>サーバーの</a:t>
            </a:r>
            <a:r>
              <a:rPr lang="en-US" altLang="ja-JP" sz="2000" dirty="0" err="1" smtClean="0">
                <a:latin typeface="BIZ UDPゴシック" panose="020B0400000000000000" pitchFamily="50" charset="-128"/>
                <a:ea typeface="BIZ UDPゴシック" panose="020B0400000000000000" pitchFamily="50" charset="-128"/>
              </a:rPr>
              <a:t>COctrock</a:t>
            </a:r>
            <a:r>
              <a:rPr lang="en-US" altLang="ja-JP" sz="2000" dirty="0" smtClean="0">
                <a:latin typeface="BIZ UDPゴシック" panose="020B0400000000000000" pitchFamily="50" charset="-128"/>
                <a:ea typeface="BIZ UDPゴシック" panose="020B0400000000000000" pitchFamily="50" charset="-128"/>
              </a:rPr>
              <a:t>::Action( )</a:t>
            </a:r>
            <a:r>
              <a:rPr lang="ja-JP" altLang="en-US" sz="2000" dirty="0" smtClean="0">
                <a:latin typeface="BIZ UDPゴシック" panose="020B0400000000000000" pitchFamily="50" charset="-128"/>
                <a:ea typeface="BIZ UDPゴシック" panose="020B0400000000000000" pitchFamily="50" charset="-128"/>
              </a:rPr>
              <a:t>に処理を追加</a:t>
            </a:r>
            <a:endParaRPr lang="en-US" altLang="ja-JP" sz="2000" dirty="0" smtClea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1027667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88079" y="1789428"/>
            <a:ext cx="11819261" cy="1015663"/>
          </a:xfrm>
          <a:prstGeom prst="rect">
            <a:avLst/>
          </a:prstGeom>
          <a:noFill/>
        </p:spPr>
        <p:txBody>
          <a:bodyPr wrap="none" rtlCol="0">
            <a:spAutoFit/>
          </a:bodyPr>
          <a:lstStyle/>
          <a:p>
            <a:pPr>
              <a:lnSpc>
                <a:spcPct val="150000"/>
              </a:lnSpc>
            </a:pPr>
            <a:r>
              <a:rPr lang="ja-JP" altLang="en-US" sz="2000" dirty="0" smtClean="0">
                <a:latin typeface="BIZ UDPゴシック" panose="020B0400000000000000" pitchFamily="50" charset="-128"/>
                <a:ea typeface="BIZ UDPゴシック" panose="020B0400000000000000" pitchFamily="50" charset="-128"/>
              </a:rPr>
              <a:t>今回の仕組みとして、基本的にサーバー側で当たり判定やゲームの処理を行って、クライアントはその結果</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を表示する</a:t>
            </a:r>
            <a:r>
              <a:rPr lang="ja-JP" altLang="en-US" sz="2000" dirty="0" smtClean="0">
                <a:latin typeface="BIZ UDPゴシック" panose="020B0400000000000000" pitchFamily="50" charset="-128"/>
                <a:ea typeface="BIZ UDPゴシック" panose="020B0400000000000000" pitchFamily="50" charset="-128"/>
              </a:rPr>
              <a:t>だけ</a:t>
            </a:r>
            <a:r>
              <a:rPr lang="ja-JP" altLang="en-US" sz="2000" dirty="0" smtClean="0">
                <a:latin typeface="BIZ UDPゴシック" panose="020B0400000000000000" pitchFamily="50" charset="-128"/>
                <a:ea typeface="BIZ UDPゴシック" panose="020B0400000000000000" pitchFamily="50" charset="-128"/>
              </a:rPr>
              <a:t>。</a:t>
            </a:r>
            <a:endParaRPr lang="en-US" altLang="ja-JP" sz="2000" dirty="0" smtClean="0">
              <a:latin typeface="BIZ UDPゴシック" panose="020B0400000000000000" pitchFamily="50" charset="-128"/>
              <a:ea typeface="BIZ UDPゴシック" panose="020B0400000000000000" pitchFamily="50" charset="-128"/>
            </a:endParaRPr>
          </a:p>
        </p:txBody>
      </p:sp>
      <p:sp>
        <p:nvSpPr>
          <p:cNvPr id="5" name="テキスト ボックス 4"/>
          <p:cNvSpPr txBox="1"/>
          <p:nvPr/>
        </p:nvSpPr>
        <p:spPr>
          <a:xfrm>
            <a:off x="188078" y="254918"/>
            <a:ext cx="6859570" cy="1015663"/>
          </a:xfrm>
          <a:prstGeom prst="rect">
            <a:avLst/>
          </a:prstGeom>
          <a:noFill/>
        </p:spPr>
        <p:txBody>
          <a:bodyPr wrap="none" rtlCol="0">
            <a:spAutoFit/>
          </a:bodyPr>
          <a:lstStyle/>
          <a:p>
            <a:pPr>
              <a:lnSpc>
                <a:spcPct val="150000"/>
              </a:lnSpc>
            </a:pPr>
            <a:r>
              <a:rPr lang="ja-JP" altLang="en-US" sz="2000" dirty="0">
                <a:latin typeface="BIZ UDPゴシック" panose="020B0400000000000000" pitchFamily="50" charset="-128"/>
                <a:ea typeface="BIZ UDPゴシック" panose="020B0400000000000000" pitchFamily="50" charset="-128"/>
              </a:rPr>
              <a:t>ここまで</a:t>
            </a:r>
            <a:r>
              <a:rPr lang="ja-JP" altLang="en-US" sz="2000" dirty="0" smtClean="0">
                <a:latin typeface="BIZ UDPゴシック" panose="020B0400000000000000" pitchFamily="50" charset="-128"/>
                <a:ea typeface="BIZ UDPゴシック" panose="020B0400000000000000" pitchFamily="50" charset="-128"/>
              </a:rPr>
              <a:t>で実行して確認。</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サーバー側で敵を倒すとちゃんとクライアント側でも</a:t>
            </a:r>
            <a:r>
              <a:rPr lang="ja-JP" altLang="en-US" sz="2000" dirty="0" smtClean="0">
                <a:latin typeface="BIZ UDPゴシック" panose="020B0400000000000000" pitchFamily="50" charset="-128"/>
                <a:ea typeface="BIZ UDPゴシック" panose="020B0400000000000000" pitchFamily="50" charset="-128"/>
              </a:rPr>
              <a:t>消える。</a:t>
            </a:r>
            <a:endParaRPr lang="en-US" altLang="ja-JP" sz="2000" dirty="0" smtClean="0">
              <a:latin typeface="BIZ UDPゴシック" panose="020B0400000000000000" pitchFamily="50" charset="-128"/>
              <a:ea typeface="BIZ UDPゴシック" panose="020B0400000000000000" pitchFamily="50" charset="-128"/>
            </a:endParaRPr>
          </a:p>
        </p:txBody>
      </p:sp>
      <p:sp>
        <p:nvSpPr>
          <p:cNvPr id="6" name="テキスト ボックス 5"/>
          <p:cNvSpPr txBox="1"/>
          <p:nvPr/>
        </p:nvSpPr>
        <p:spPr>
          <a:xfrm>
            <a:off x="188079" y="3323938"/>
            <a:ext cx="12094978" cy="1477328"/>
          </a:xfrm>
          <a:prstGeom prst="rect">
            <a:avLst/>
          </a:prstGeom>
          <a:noFill/>
        </p:spPr>
        <p:txBody>
          <a:bodyPr wrap="none" rtlCol="0">
            <a:spAutoFit/>
          </a:bodyPr>
          <a:lstStyle/>
          <a:p>
            <a:pPr>
              <a:lnSpc>
                <a:spcPct val="150000"/>
              </a:lnSpc>
            </a:pPr>
            <a:r>
              <a:rPr lang="ja-JP" altLang="en-US" sz="2000" dirty="0" smtClean="0">
                <a:latin typeface="BIZ UDPゴシック" panose="020B0400000000000000" pitchFamily="50" charset="-128"/>
                <a:ea typeface="BIZ UDPゴシック" panose="020B0400000000000000" pitchFamily="50" charset="-128"/>
              </a:rPr>
              <a:t>この仕組みをアイテムにも実装する事で、アイテムについても同期する事ができる。</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a:latin typeface="BIZ UDPゴシック" panose="020B0400000000000000" pitchFamily="50" charset="-128"/>
                <a:ea typeface="BIZ UDPゴシック" panose="020B0400000000000000" pitchFamily="50" charset="-128"/>
              </a:rPr>
              <a:t>その</a:t>
            </a:r>
            <a:r>
              <a:rPr lang="ja-JP" altLang="en-US" sz="2000" dirty="0" smtClean="0">
                <a:latin typeface="BIZ UDPゴシック" panose="020B0400000000000000" pitchFamily="50" charset="-128"/>
                <a:ea typeface="BIZ UDPゴシック" panose="020B0400000000000000" pitchFamily="50" charset="-128"/>
              </a:rPr>
              <a:t>場合、</a:t>
            </a:r>
            <a:r>
              <a:rPr lang="en-US" altLang="ja-JP" sz="2000" dirty="0" err="1" smtClean="0">
                <a:latin typeface="BIZ UDPゴシック" panose="020B0400000000000000" pitchFamily="50" charset="-128"/>
                <a:ea typeface="BIZ UDPゴシック" panose="020B0400000000000000" pitchFamily="50" charset="-128"/>
              </a:rPr>
              <a:t>GetNextEnemyID</a:t>
            </a:r>
            <a:r>
              <a:rPr lang="en-US" altLang="ja-JP" sz="2000" dirty="0" smtClean="0">
                <a:latin typeface="BIZ UDPゴシック" panose="020B0400000000000000" pitchFamily="50" charset="-128"/>
                <a:ea typeface="BIZ UDPゴシック" panose="020B0400000000000000" pitchFamily="50" charset="-128"/>
              </a:rPr>
              <a:t>( )</a:t>
            </a:r>
            <a:r>
              <a:rPr lang="ja-JP" altLang="en-US" sz="2000" dirty="0" smtClean="0">
                <a:latin typeface="BIZ UDPゴシック" panose="020B0400000000000000" pitchFamily="50" charset="-128"/>
                <a:ea typeface="BIZ UDPゴシック" panose="020B0400000000000000" pitchFamily="50" charset="-128"/>
              </a:rPr>
              <a:t>について、</a:t>
            </a:r>
            <a:r>
              <a:rPr lang="en-US" altLang="ja-JP" sz="2000" dirty="0" smtClean="0">
                <a:latin typeface="BIZ UDPゴシック" panose="020B0400000000000000" pitchFamily="50" charset="-128"/>
                <a:ea typeface="BIZ UDPゴシック" panose="020B0400000000000000" pitchFamily="50" charset="-128"/>
              </a:rPr>
              <a:t>Item</a:t>
            </a:r>
            <a:r>
              <a:rPr lang="ja-JP" altLang="en-US" sz="2000" dirty="0" smtClean="0">
                <a:latin typeface="BIZ UDPゴシック" panose="020B0400000000000000" pitchFamily="50" charset="-128"/>
                <a:ea typeface="BIZ UDPゴシック" panose="020B0400000000000000" pitchFamily="50" charset="-128"/>
              </a:rPr>
              <a:t>用にも流用できるように処理を作り替えるとプログラム</a:t>
            </a:r>
            <a:endParaRPr lang="en-US" altLang="ja-JP" sz="2000" dirty="0" smtClean="0">
              <a:latin typeface="BIZ UDPゴシック" panose="020B0400000000000000" pitchFamily="50" charset="-128"/>
              <a:ea typeface="BIZ UDPゴシック" panose="020B0400000000000000" pitchFamily="50" charset="-128"/>
            </a:endParaRPr>
          </a:p>
          <a:p>
            <a:pPr>
              <a:lnSpc>
                <a:spcPct val="150000"/>
              </a:lnSpc>
            </a:pPr>
            <a:r>
              <a:rPr lang="ja-JP" altLang="en-US" sz="2000" dirty="0" smtClean="0">
                <a:latin typeface="BIZ UDPゴシック" panose="020B0400000000000000" pitchFamily="50" charset="-128"/>
                <a:ea typeface="BIZ UDPゴシック" panose="020B0400000000000000" pitchFamily="50" charset="-128"/>
              </a:rPr>
              <a:t>が</a:t>
            </a:r>
            <a:r>
              <a:rPr lang="ja-JP" altLang="en-US" sz="2000" smtClean="0">
                <a:latin typeface="BIZ UDPゴシック" panose="020B0400000000000000" pitchFamily="50" charset="-128"/>
                <a:ea typeface="BIZ UDPゴシック" panose="020B0400000000000000" pitchFamily="50" charset="-128"/>
              </a:rPr>
              <a:t>スッキリとまとまる。</a:t>
            </a:r>
            <a:endParaRPr lang="en-US" altLang="ja-JP" sz="2000" dirty="0" smtClea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95038648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10B2353B67B43842908B5E790F99ACAA" ma:contentTypeVersion="10" ma:contentTypeDescription="新しいドキュメントを作成します。" ma:contentTypeScope="" ma:versionID="0c793fabaaa39499dbb7fc1588a62011">
  <xsd:schema xmlns:xsd="http://www.w3.org/2001/XMLSchema" xmlns:xs="http://www.w3.org/2001/XMLSchema" xmlns:p="http://schemas.microsoft.com/office/2006/metadata/properties" xmlns:ns2="46e6a606-a55d-407f-80ff-05921be47282" xmlns:ns3="da918011-11cc-488c-9be6-480b4eacdce1" targetNamespace="http://schemas.microsoft.com/office/2006/metadata/properties" ma:root="true" ma:fieldsID="d107aeb88f85be8fc5a4006438786d90" ns2:_="" ns3:_="">
    <xsd:import namespace="46e6a606-a55d-407f-80ff-05921be47282"/>
    <xsd:import namespace="da918011-11cc-488c-9be6-480b4eacdce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e6a606-a55d-407f-80ff-05921be472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03996ee2-cfb0-413c-86f6-256a65fd6138"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a918011-11cc-488c-9be6-480b4eacdce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e207242-549e-4445-8dd7-58d6b234bc56}" ma:internalName="TaxCatchAll" ma:showField="CatchAllData" ma:web="da918011-11cc-488c-9be6-480b4eacdce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a918011-11cc-488c-9be6-480b4eacdce1" xsi:nil="true"/>
    <lcf76f155ced4ddcb4097134ff3c332f xmlns="46e6a606-a55d-407f-80ff-05921be4728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4B8E64B-F053-4B45-B2FE-93CF46743B86}"/>
</file>

<file path=customXml/itemProps2.xml><?xml version="1.0" encoding="utf-8"?>
<ds:datastoreItem xmlns:ds="http://schemas.openxmlformats.org/officeDocument/2006/customXml" ds:itemID="{EB6F168C-3BEC-4434-89EA-ED72E0EF9C9E}"/>
</file>

<file path=customXml/itemProps3.xml><?xml version="1.0" encoding="utf-8"?>
<ds:datastoreItem xmlns:ds="http://schemas.openxmlformats.org/officeDocument/2006/customXml" ds:itemID="{DB8640CE-8592-4905-9B36-31472023A8BE}"/>
</file>

<file path=docProps/app.xml><?xml version="1.0" encoding="utf-8"?>
<Properties xmlns="http://schemas.openxmlformats.org/officeDocument/2006/extended-properties" xmlns:vt="http://schemas.openxmlformats.org/officeDocument/2006/docPropsVTypes">
  <TotalTime>3243</TotalTime>
  <Words>783</Words>
  <Application>Microsoft Office PowerPoint</Application>
  <PresentationFormat>ワイド画面</PresentationFormat>
  <Paragraphs>114</Paragraphs>
  <Slides>24</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24</vt:i4>
      </vt:variant>
    </vt:vector>
  </HeadingPairs>
  <TitlesOfParts>
    <vt:vector size="29" baseType="lpstr">
      <vt:lpstr>BIZ UDPゴシック</vt:lpstr>
      <vt:lpstr>游ゴシック</vt:lpstr>
      <vt:lpstr>游ゴシック Light</vt:lpstr>
      <vt:lpstr>Arial</vt:lpstr>
      <vt:lpstr>Office テーマ</vt:lpstr>
      <vt:lpstr>敵の同期</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敵の同期</dc:title>
  <dc:creator>event</dc:creator>
  <cp:lastModifiedBy>event</cp:lastModifiedBy>
  <cp:revision>34</cp:revision>
  <dcterms:created xsi:type="dcterms:W3CDTF">2026-09-08T05:42:58Z</dcterms:created>
  <dcterms:modified xsi:type="dcterms:W3CDTF">2026-09-14T05:22:35Z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0x01010010B2353B67B43842908B5E790F99ACAA</vt:lpwstr>
  </property>
</Properties>
</file>