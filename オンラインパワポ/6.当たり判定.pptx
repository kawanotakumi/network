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8.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E523AE56-A533-49A3-801C-BBA723C80513}" type="datetimeFigureOut">
              <a:rPr kumimoji="1" lang="ja-JP" altLang="en-US" smtClean="0"/>
              <a:t>2026/9/7</a:t>
            </a:fld>
            <a:endParaRPr kumimoji="1" lang="ja-JP" altLang="en-US" dirty="0"/>
          </a:p>
        </p:txBody>
      </p:sp>
      <p:sp>
        <p:nvSpPr>
          <p:cNvPr id="5" name="フッター プレースホルダー 4"/>
          <p:cNvSpPr>
            <a:spLocks noGrp="1"/>
          </p:cNvSpPr>
          <p:nvPr>
            <p:ph type="ftr" sz="quarter" idx="11"/>
          </p:nvPr>
        </p:nvSpPr>
        <p:spPr/>
        <p:txBody>
          <a:bodyPr/>
          <a:lstStyle/>
          <a:p>
            <a:endParaRPr kumimoji="1" lang="ja-JP" altLang="en-US" dirty="0"/>
          </a:p>
        </p:txBody>
      </p:sp>
      <p:sp>
        <p:nvSpPr>
          <p:cNvPr id="6" name="スライド番号プレースホルダー 5"/>
          <p:cNvSpPr>
            <a:spLocks noGrp="1"/>
          </p:cNvSpPr>
          <p:nvPr>
            <p:ph type="sldNum" sz="quarter" idx="12"/>
          </p:nvPr>
        </p:nvSpPr>
        <p:spPr/>
        <p:txBody>
          <a:bodyPr/>
          <a:lstStyle/>
          <a:p>
            <a:fld id="{7AF71541-2194-4C41-B20F-E1414251D7DA}" type="slidenum">
              <a:rPr kumimoji="1" lang="ja-JP" altLang="en-US" smtClean="0"/>
              <a:t>‹#›</a:t>
            </a:fld>
            <a:endParaRPr kumimoji="1" lang="ja-JP" altLang="en-US" dirty="0"/>
          </a:p>
        </p:txBody>
      </p:sp>
    </p:spTree>
    <p:extLst>
      <p:ext uri="{BB962C8B-B14F-4D97-AF65-F5344CB8AC3E}">
        <p14:creationId xmlns:p14="http://schemas.microsoft.com/office/powerpoint/2010/main" val="273213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E523AE56-A533-49A3-801C-BBA723C80513}" type="datetimeFigureOut">
              <a:rPr kumimoji="1" lang="ja-JP" altLang="en-US" smtClean="0"/>
              <a:t>2026/9/7</a:t>
            </a:fld>
            <a:endParaRPr kumimoji="1" lang="ja-JP" altLang="en-US" dirty="0"/>
          </a:p>
        </p:txBody>
      </p:sp>
      <p:sp>
        <p:nvSpPr>
          <p:cNvPr id="5" name="フッター プレースホルダー 4"/>
          <p:cNvSpPr>
            <a:spLocks noGrp="1"/>
          </p:cNvSpPr>
          <p:nvPr>
            <p:ph type="ftr" sz="quarter" idx="11"/>
          </p:nvPr>
        </p:nvSpPr>
        <p:spPr/>
        <p:txBody>
          <a:bodyPr/>
          <a:lstStyle/>
          <a:p>
            <a:endParaRPr kumimoji="1" lang="ja-JP" altLang="en-US" dirty="0"/>
          </a:p>
        </p:txBody>
      </p:sp>
      <p:sp>
        <p:nvSpPr>
          <p:cNvPr id="6" name="スライド番号プレースホルダー 5"/>
          <p:cNvSpPr>
            <a:spLocks noGrp="1"/>
          </p:cNvSpPr>
          <p:nvPr>
            <p:ph type="sldNum" sz="quarter" idx="12"/>
          </p:nvPr>
        </p:nvSpPr>
        <p:spPr/>
        <p:txBody>
          <a:bodyPr/>
          <a:lstStyle/>
          <a:p>
            <a:fld id="{7AF71541-2194-4C41-B20F-E1414251D7DA}" type="slidenum">
              <a:rPr kumimoji="1" lang="ja-JP" altLang="en-US" smtClean="0"/>
              <a:t>‹#›</a:t>
            </a:fld>
            <a:endParaRPr kumimoji="1" lang="ja-JP" altLang="en-US" dirty="0"/>
          </a:p>
        </p:txBody>
      </p:sp>
    </p:spTree>
    <p:extLst>
      <p:ext uri="{BB962C8B-B14F-4D97-AF65-F5344CB8AC3E}">
        <p14:creationId xmlns:p14="http://schemas.microsoft.com/office/powerpoint/2010/main" val="4055818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E523AE56-A533-49A3-801C-BBA723C80513}" type="datetimeFigureOut">
              <a:rPr kumimoji="1" lang="ja-JP" altLang="en-US" smtClean="0"/>
              <a:t>2026/9/7</a:t>
            </a:fld>
            <a:endParaRPr kumimoji="1" lang="ja-JP" altLang="en-US" dirty="0"/>
          </a:p>
        </p:txBody>
      </p:sp>
      <p:sp>
        <p:nvSpPr>
          <p:cNvPr id="5" name="フッター プレースホルダー 4"/>
          <p:cNvSpPr>
            <a:spLocks noGrp="1"/>
          </p:cNvSpPr>
          <p:nvPr>
            <p:ph type="ftr" sz="quarter" idx="11"/>
          </p:nvPr>
        </p:nvSpPr>
        <p:spPr/>
        <p:txBody>
          <a:bodyPr/>
          <a:lstStyle/>
          <a:p>
            <a:endParaRPr kumimoji="1" lang="ja-JP" altLang="en-US" dirty="0"/>
          </a:p>
        </p:txBody>
      </p:sp>
      <p:sp>
        <p:nvSpPr>
          <p:cNvPr id="6" name="スライド番号プレースホルダー 5"/>
          <p:cNvSpPr>
            <a:spLocks noGrp="1"/>
          </p:cNvSpPr>
          <p:nvPr>
            <p:ph type="sldNum" sz="quarter" idx="12"/>
          </p:nvPr>
        </p:nvSpPr>
        <p:spPr/>
        <p:txBody>
          <a:bodyPr/>
          <a:lstStyle/>
          <a:p>
            <a:fld id="{7AF71541-2194-4C41-B20F-E1414251D7DA}" type="slidenum">
              <a:rPr kumimoji="1" lang="ja-JP" altLang="en-US" smtClean="0"/>
              <a:t>‹#›</a:t>
            </a:fld>
            <a:endParaRPr kumimoji="1" lang="ja-JP" altLang="en-US" dirty="0"/>
          </a:p>
        </p:txBody>
      </p:sp>
    </p:spTree>
    <p:extLst>
      <p:ext uri="{BB962C8B-B14F-4D97-AF65-F5344CB8AC3E}">
        <p14:creationId xmlns:p14="http://schemas.microsoft.com/office/powerpoint/2010/main" val="3919809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E523AE56-A533-49A3-801C-BBA723C80513}" type="datetimeFigureOut">
              <a:rPr kumimoji="1" lang="ja-JP" altLang="en-US" smtClean="0"/>
              <a:t>2026/9/7</a:t>
            </a:fld>
            <a:endParaRPr kumimoji="1" lang="ja-JP" altLang="en-US" dirty="0"/>
          </a:p>
        </p:txBody>
      </p:sp>
      <p:sp>
        <p:nvSpPr>
          <p:cNvPr id="6" name="フッター プレースホルダー 5"/>
          <p:cNvSpPr>
            <a:spLocks noGrp="1"/>
          </p:cNvSpPr>
          <p:nvPr>
            <p:ph type="ftr" sz="quarter" idx="11"/>
          </p:nvPr>
        </p:nvSpPr>
        <p:spPr/>
        <p:txBody>
          <a:bodyPr/>
          <a:lstStyle/>
          <a:p>
            <a:endParaRPr kumimoji="1" lang="ja-JP" altLang="en-US" dirty="0"/>
          </a:p>
        </p:txBody>
      </p:sp>
      <p:sp>
        <p:nvSpPr>
          <p:cNvPr id="7" name="スライド番号プレースホルダー 6"/>
          <p:cNvSpPr>
            <a:spLocks noGrp="1"/>
          </p:cNvSpPr>
          <p:nvPr>
            <p:ph type="sldNum" sz="quarter" idx="12"/>
          </p:nvPr>
        </p:nvSpPr>
        <p:spPr/>
        <p:txBody>
          <a:bodyPr/>
          <a:lstStyle/>
          <a:p>
            <a:fld id="{7AF71541-2194-4C41-B20F-E1414251D7DA}" type="slidenum">
              <a:rPr kumimoji="1" lang="ja-JP" altLang="en-US" smtClean="0"/>
              <a:t>‹#›</a:t>
            </a:fld>
            <a:endParaRPr kumimoji="1" lang="ja-JP" altLang="en-US" dirty="0"/>
          </a:p>
        </p:txBody>
      </p:sp>
    </p:spTree>
    <p:extLst>
      <p:ext uri="{BB962C8B-B14F-4D97-AF65-F5344CB8AC3E}">
        <p14:creationId xmlns:p14="http://schemas.microsoft.com/office/powerpoint/2010/main" val="3010769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E523AE56-A533-49A3-801C-BBA723C80513}" type="datetimeFigureOut">
              <a:rPr kumimoji="1" lang="ja-JP" altLang="en-US" smtClean="0"/>
              <a:t>2026/9/7</a:t>
            </a:fld>
            <a:endParaRPr kumimoji="1" lang="ja-JP" altLang="en-US" dirty="0"/>
          </a:p>
        </p:txBody>
      </p:sp>
      <p:sp>
        <p:nvSpPr>
          <p:cNvPr id="8" name="フッター プレースホルダー 7"/>
          <p:cNvSpPr>
            <a:spLocks noGrp="1"/>
          </p:cNvSpPr>
          <p:nvPr>
            <p:ph type="ftr" sz="quarter" idx="11"/>
          </p:nvPr>
        </p:nvSpPr>
        <p:spPr/>
        <p:txBody>
          <a:bodyPr/>
          <a:lstStyle/>
          <a:p>
            <a:endParaRPr kumimoji="1" lang="ja-JP" altLang="en-US" dirty="0"/>
          </a:p>
        </p:txBody>
      </p:sp>
      <p:sp>
        <p:nvSpPr>
          <p:cNvPr id="9" name="スライド番号プレースホルダー 8"/>
          <p:cNvSpPr>
            <a:spLocks noGrp="1"/>
          </p:cNvSpPr>
          <p:nvPr>
            <p:ph type="sldNum" sz="quarter" idx="12"/>
          </p:nvPr>
        </p:nvSpPr>
        <p:spPr/>
        <p:txBody>
          <a:bodyPr/>
          <a:lstStyle/>
          <a:p>
            <a:fld id="{7AF71541-2194-4C41-B20F-E1414251D7DA}" type="slidenum">
              <a:rPr kumimoji="1" lang="ja-JP" altLang="en-US" smtClean="0"/>
              <a:t>‹#›</a:t>
            </a:fld>
            <a:endParaRPr kumimoji="1" lang="ja-JP" altLang="en-US" dirty="0"/>
          </a:p>
        </p:txBody>
      </p:sp>
    </p:spTree>
    <p:extLst>
      <p:ext uri="{BB962C8B-B14F-4D97-AF65-F5344CB8AC3E}">
        <p14:creationId xmlns:p14="http://schemas.microsoft.com/office/powerpoint/2010/main" val="2557828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E523AE56-A533-49A3-801C-BBA723C80513}" type="datetimeFigureOut">
              <a:rPr kumimoji="1" lang="ja-JP" altLang="en-US" smtClean="0"/>
              <a:t>2026/9/7</a:t>
            </a:fld>
            <a:endParaRPr kumimoji="1" lang="ja-JP" altLang="en-US" dirty="0"/>
          </a:p>
        </p:txBody>
      </p:sp>
      <p:sp>
        <p:nvSpPr>
          <p:cNvPr id="4" name="フッター プレースホルダー 3"/>
          <p:cNvSpPr>
            <a:spLocks noGrp="1"/>
          </p:cNvSpPr>
          <p:nvPr>
            <p:ph type="ftr" sz="quarter" idx="11"/>
          </p:nvPr>
        </p:nvSpPr>
        <p:spPr/>
        <p:txBody>
          <a:bodyPr/>
          <a:lstStyle/>
          <a:p>
            <a:endParaRPr kumimoji="1" lang="ja-JP" altLang="en-US" dirty="0"/>
          </a:p>
        </p:txBody>
      </p:sp>
      <p:sp>
        <p:nvSpPr>
          <p:cNvPr id="5" name="スライド番号プレースホルダー 4"/>
          <p:cNvSpPr>
            <a:spLocks noGrp="1"/>
          </p:cNvSpPr>
          <p:nvPr>
            <p:ph type="sldNum" sz="quarter" idx="12"/>
          </p:nvPr>
        </p:nvSpPr>
        <p:spPr/>
        <p:txBody>
          <a:bodyPr/>
          <a:lstStyle/>
          <a:p>
            <a:fld id="{7AF71541-2194-4C41-B20F-E1414251D7DA}" type="slidenum">
              <a:rPr kumimoji="1" lang="ja-JP" altLang="en-US" smtClean="0"/>
              <a:t>‹#›</a:t>
            </a:fld>
            <a:endParaRPr kumimoji="1" lang="ja-JP" altLang="en-US" dirty="0"/>
          </a:p>
        </p:txBody>
      </p:sp>
    </p:spTree>
    <p:extLst>
      <p:ext uri="{BB962C8B-B14F-4D97-AF65-F5344CB8AC3E}">
        <p14:creationId xmlns:p14="http://schemas.microsoft.com/office/powerpoint/2010/main" val="4185401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E523AE56-A533-49A3-801C-BBA723C80513}" type="datetimeFigureOut">
              <a:rPr kumimoji="1" lang="ja-JP" altLang="en-US" smtClean="0"/>
              <a:t>2026/9/7</a:t>
            </a:fld>
            <a:endParaRPr kumimoji="1" lang="ja-JP" altLang="en-US" dirty="0"/>
          </a:p>
        </p:txBody>
      </p:sp>
      <p:sp>
        <p:nvSpPr>
          <p:cNvPr id="3" name="フッター プレースホルダー 2"/>
          <p:cNvSpPr>
            <a:spLocks noGrp="1"/>
          </p:cNvSpPr>
          <p:nvPr>
            <p:ph type="ftr" sz="quarter" idx="11"/>
          </p:nvPr>
        </p:nvSpPr>
        <p:spPr/>
        <p:txBody>
          <a:bodyPr/>
          <a:lstStyle/>
          <a:p>
            <a:endParaRPr kumimoji="1" lang="ja-JP" altLang="en-US" dirty="0"/>
          </a:p>
        </p:txBody>
      </p:sp>
      <p:sp>
        <p:nvSpPr>
          <p:cNvPr id="4" name="スライド番号プレースホルダー 3"/>
          <p:cNvSpPr>
            <a:spLocks noGrp="1"/>
          </p:cNvSpPr>
          <p:nvPr>
            <p:ph type="sldNum" sz="quarter" idx="12"/>
          </p:nvPr>
        </p:nvSpPr>
        <p:spPr/>
        <p:txBody>
          <a:bodyPr/>
          <a:lstStyle/>
          <a:p>
            <a:fld id="{7AF71541-2194-4C41-B20F-E1414251D7DA}" type="slidenum">
              <a:rPr kumimoji="1" lang="ja-JP" altLang="en-US" smtClean="0"/>
              <a:t>‹#›</a:t>
            </a:fld>
            <a:endParaRPr kumimoji="1" lang="ja-JP" altLang="en-US" dirty="0"/>
          </a:p>
        </p:txBody>
      </p:sp>
    </p:spTree>
    <p:extLst>
      <p:ext uri="{BB962C8B-B14F-4D97-AF65-F5344CB8AC3E}">
        <p14:creationId xmlns:p14="http://schemas.microsoft.com/office/powerpoint/2010/main" val="2615538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E523AE56-A533-49A3-801C-BBA723C80513}" type="datetimeFigureOut">
              <a:rPr kumimoji="1" lang="ja-JP" altLang="en-US" smtClean="0"/>
              <a:t>2026/9/7</a:t>
            </a:fld>
            <a:endParaRPr kumimoji="1" lang="ja-JP" altLang="en-US" dirty="0"/>
          </a:p>
        </p:txBody>
      </p:sp>
      <p:sp>
        <p:nvSpPr>
          <p:cNvPr id="6" name="フッター プレースホルダー 5"/>
          <p:cNvSpPr>
            <a:spLocks noGrp="1"/>
          </p:cNvSpPr>
          <p:nvPr>
            <p:ph type="ftr" sz="quarter" idx="11"/>
          </p:nvPr>
        </p:nvSpPr>
        <p:spPr/>
        <p:txBody>
          <a:bodyPr/>
          <a:lstStyle/>
          <a:p>
            <a:endParaRPr kumimoji="1" lang="ja-JP" altLang="en-US" dirty="0"/>
          </a:p>
        </p:txBody>
      </p:sp>
      <p:sp>
        <p:nvSpPr>
          <p:cNvPr id="7" name="スライド番号プレースホルダー 6"/>
          <p:cNvSpPr>
            <a:spLocks noGrp="1"/>
          </p:cNvSpPr>
          <p:nvPr>
            <p:ph type="sldNum" sz="quarter" idx="12"/>
          </p:nvPr>
        </p:nvSpPr>
        <p:spPr/>
        <p:txBody>
          <a:bodyPr/>
          <a:lstStyle/>
          <a:p>
            <a:fld id="{7AF71541-2194-4C41-B20F-E1414251D7DA}" type="slidenum">
              <a:rPr kumimoji="1" lang="ja-JP" altLang="en-US" smtClean="0"/>
              <a:t>‹#›</a:t>
            </a:fld>
            <a:endParaRPr kumimoji="1" lang="ja-JP" altLang="en-US" dirty="0"/>
          </a:p>
        </p:txBody>
      </p:sp>
    </p:spTree>
    <p:extLst>
      <p:ext uri="{BB962C8B-B14F-4D97-AF65-F5344CB8AC3E}">
        <p14:creationId xmlns:p14="http://schemas.microsoft.com/office/powerpoint/2010/main" val="2933020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dirty="0"/>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E523AE56-A533-49A3-801C-BBA723C80513}" type="datetimeFigureOut">
              <a:rPr kumimoji="1" lang="ja-JP" altLang="en-US" smtClean="0"/>
              <a:t>2026/9/7</a:t>
            </a:fld>
            <a:endParaRPr kumimoji="1" lang="ja-JP" altLang="en-US" dirty="0"/>
          </a:p>
        </p:txBody>
      </p:sp>
      <p:sp>
        <p:nvSpPr>
          <p:cNvPr id="6" name="フッター プレースホルダー 5"/>
          <p:cNvSpPr>
            <a:spLocks noGrp="1"/>
          </p:cNvSpPr>
          <p:nvPr>
            <p:ph type="ftr" sz="quarter" idx="11"/>
          </p:nvPr>
        </p:nvSpPr>
        <p:spPr/>
        <p:txBody>
          <a:bodyPr/>
          <a:lstStyle/>
          <a:p>
            <a:endParaRPr kumimoji="1" lang="ja-JP" altLang="en-US" dirty="0"/>
          </a:p>
        </p:txBody>
      </p:sp>
      <p:sp>
        <p:nvSpPr>
          <p:cNvPr id="7" name="スライド番号プレースホルダー 6"/>
          <p:cNvSpPr>
            <a:spLocks noGrp="1"/>
          </p:cNvSpPr>
          <p:nvPr>
            <p:ph type="sldNum" sz="quarter" idx="12"/>
          </p:nvPr>
        </p:nvSpPr>
        <p:spPr/>
        <p:txBody>
          <a:bodyPr/>
          <a:lstStyle/>
          <a:p>
            <a:fld id="{7AF71541-2194-4C41-B20F-E1414251D7DA}" type="slidenum">
              <a:rPr kumimoji="1" lang="ja-JP" altLang="en-US" smtClean="0"/>
              <a:t>‹#›</a:t>
            </a:fld>
            <a:endParaRPr kumimoji="1" lang="ja-JP" altLang="en-US" dirty="0"/>
          </a:p>
        </p:txBody>
      </p:sp>
    </p:spTree>
    <p:extLst>
      <p:ext uri="{BB962C8B-B14F-4D97-AF65-F5344CB8AC3E}">
        <p14:creationId xmlns:p14="http://schemas.microsoft.com/office/powerpoint/2010/main" val="1127495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E523AE56-A533-49A3-801C-BBA723C80513}" type="datetimeFigureOut">
              <a:rPr kumimoji="1" lang="ja-JP" altLang="en-US" smtClean="0"/>
              <a:t>2026/9/7</a:t>
            </a:fld>
            <a:endParaRPr kumimoji="1" lang="ja-JP" altLang="en-US" dirty="0"/>
          </a:p>
        </p:txBody>
      </p:sp>
      <p:sp>
        <p:nvSpPr>
          <p:cNvPr id="5" name="フッター プレースホルダー 4"/>
          <p:cNvSpPr>
            <a:spLocks noGrp="1"/>
          </p:cNvSpPr>
          <p:nvPr>
            <p:ph type="ftr" sz="quarter" idx="11"/>
          </p:nvPr>
        </p:nvSpPr>
        <p:spPr/>
        <p:txBody>
          <a:bodyPr/>
          <a:lstStyle/>
          <a:p>
            <a:endParaRPr kumimoji="1" lang="ja-JP" altLang="en-US" dirty="0"/>
          </a:p>
        </p:txBody>
      </p:sp>
      <p:sp>
        <p:nvSpPr>
          <p:cNvPr id="6" name="スライド番号プレースホルダー 5"/>
          <p:cNvSpPr>
            <a:spLocks noGrp="1"/>
          </p:cNvSpPr>
          <p:nvPr>
            <p:ph type="sldNum" sz="quarter" idx="12"/>
          </p:nvPr>
        </p:nvSpPr>
        <p:spPr/>
        <p:txBody>
          <a:bodyPr/>
          <a:lstStyle/>
          <a:p>
            <a:fld id="{7AF71541-2194-4C41-B20F-E1414251D7DA}" type="slidenum">
              <a:rPr kumimoji="1" lang="ja-JP" altLang="en-US" smtClean="0"/>
              <a:t>‹#›</a:t>
            </a:fld>
            <a:endParaRPr kumimoji="1" lang="ja-JP" altLang="en-US" dirty="0"/>
          </a:p>
        </p:txBody>
      </p:sp>
    </p:spTree>
    <p:extLst>
      <p:ext uri="{BB962C8B-B14F-4D97-AF65-F5344CB8AC3E}">
        <p14:creationId xmlns:p14="http://schemas.microsoft.com/office/powerpoint/2010/main" val="1682938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E523AE56-A533-49A3-801C-BBA723C80513}" type="datetimeFigureOut">
              <a:rPr kumimoji="1" lang="ja-JP" altLang="en-US" smtClean="0"/>
              <a:t>2026/9/7</a:t>
            </a:fld>
            <a:endParaRPr kumimoji="1" lang="ja-JP" altLang="en-US" dirty="0"/>
          </a:p>
        </p:txBody>
      </p:sp>
      <p:sp>
        <p:nvSpPr>
          <p:cNvPr id="5" name="フッター プレースホルダー 4"/>
          <p:cNvSpPr>
            <a:spLocks noGrp="1"/>
          </p:cNvSpPr>
          <p:nvPr>
            <p:ph type="ftr" sz="quarter" idx="11"/>
          </p:nvPr>
        </p:nvSpPr>
        <p:spPr/>
        <p:txBody>
          <a:bodyPr/>
          <a:lstStyle/>
          <a:p>
            <a:endParaRPr kumimoji="1" lang="ja-JP" altLang="en-US" dirty="0"/>
          </a:p>
        </p:txBody>
      </p:sp>
      <p:sp>
        <p:nvSpPr>
          <p:cNvPr id="6" name="スライド番号プレースホルダー 5"/>
          <p:cNvSpPr>
            <a:spLocks noGrp="1"/>
          </p:cNvSpPr>
          <p:nvPr>
            <p:ph type="sldNum" sz="quarter" idx="12"/>
          </p:nvPr>
        </p:nvSpPr>
        <p:spPr/>
        <p:txBody>
          <a:bodyPr/>
          <a:lstStyle/>
          <a:p>
            <a:fld id="{7AF71541-2194-4C41-B20F-E1414251D7DA}" type="slidenum">
              <a:rPr kumimoji="1" lang="ja-JP" altLang="en-US" smtClean="0"/>
              <a:t>‹#›</a:t>
            </a:fld>
            <a:endParaRPr kumimoji="1" lang="ja-JP" altLang="en-US" dirty="0"/>
          </a:p>
        </p:txBody>
      </p:sp>
    </p:spTree>
    <p:extLst>
      <p:ext uri="{BB962C8B-B14F-4D97-AF65-F5344CB8AC3E}">
        <p14:creationId xmlns:p14="http://schemas.microsoft.com/office/powerpoint/2010/main" val="1787593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23AE56-A533-49A3-801C-BBA723C80513}" type="datetimeFigureOut">
              <a:rPr kumimoji="1" lang="ja-JP" altLang="en-US" smtClean="0"/>
              <a:t>2026/9/7</a:t>
            </a:fld>
            <a:endParaRPr kumimoji="1" lang="ja-JP" altLang="en-US" dirty="0"/>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dirty="0"/>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F71541-2194-4C41-B20F-E1414251D7DA}" type="slidenum">
              <a:rPr kumimoji="1" lang="ja-JP" altLang="en-US" smtClean="0"/>
              <a:t>‹#›</a:t>
            </a:fld>
            <a:endParaRPr kumimoji="1" lang="ja-JP" altLang="en-US" dirty="0"/>
          </a:p>
        </p:txBody>
      </p:sp>
    </p:spTree>
    <p:extLst>
      <p:ext uri="{BB962C8B-B14F-4D97-AF65-F5344CB8AC3E}">
        <p14:creationId xmlns:p14="http://schemas.microsoft.com/office/powerpoint/2010/main" val="1564625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smtClean="0"/>
              <a:t>当たり</a:t>
            </a:r>
            <a:r>
              <a:rPr kumimoji="1" lang="ja-JP" altLang="en-US" dirty="0" smtClean="0"/>
              <a:t>判定</a:t>
            </a:r>
            <a:r>
              <a:rPr kumimoji="1" lang="en-US" altLang="ja-JP" dirty="0" smtClean="0"/>
              <a:t/>
            </a:r>
            <a:br>
              <a:rPr kumimoji="1" lang="en-US" altLang="ja-JP" dirty="0" smtClean="0"/>
            </a:br>
            <a:r>
              <a:rPr kumimoji="1" lang="ja-JP" altLang="en-US" dirty="0" smtClean="0"/>
              <a:t>ノックバック処理</a:t>
            </a:r>
            <a:endParaRPr kumimoji="1" lang="ja-JP" altLang="en-US" dirty="0"/>
          </a:p>
        </p:txBody>
      </p:sp>
      <p:sp>
        <p:nvSpPr>
          <p:cNvPr id="3" name="サブタイトル 2"/>
          <p:cNvSpPr>
            <a:spLocks noGrp="1"/>
          </p:cNvSpPr>
          <p:nvPr>
            <p:ph type="subTitle" idx="1"/>
          </p:nvPr>
        </p:nvSpPr>
        <p:spPr/>
        <p:txBody>
          <a:bodyPr/>
          <a:lstStyle/>
          <a:p>
            <a:endParaRPr kumimoji="1" lang="ja-JP" altLang="en-US" dirty="0"/>
          </a:p>
        </p:txBody>
      </p:sp>
    </p:spTree>
    <p:extLst>
      <p:ext uri="{BB962C8B-B14F-4D97-AF65-F5344CB8AC3E}">
        <p14:creationId xmlns:p14="http://schemas.microsoft.com/office/powerpoint/2010/main" val="1627556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p:cNvSpPr txBox="1"/>
          <p:nvPr/>
        </p:nvSpPr>
        <p:spPr>
          <a:xfrm>
            <a:off x="279400" y="584200"/>
            <a:ext cx="3980577" cy="369332"/>
          </a:xfrm>
          <a:prstGeom prst="rect">
            <a:avLst/>
          </a:prstGeom>
          <a:noFill/>
        </p:spPr>
        <p:txBody>
          <a:bodyPr wrap="none" rtlCol="0">
            <a:spAutoFit/>
          </a:bodyPr>
          <a:lstStyle/>
          <a:p>
            <a:r>
              <a:rPr kumimoji="1" lang="en-US" altLang="ja-JP" dirty="0" smtClean="0">
                <a:latin typeface="BIZ UDPゴシック" panose="020B0400000000000000" pitchFamily="50" charset="-128"/>
                <a:ea typeface="BIZ UDPゴシック" panose="020B0400000000000000" pitchFamily="50" charset="-128"/>
              </a:rPr>
              <a:t>CollisionUpDate</a:t>
            </a:r>
            <a:r>
              <a:rPr kumimoji="1" lang="ja-JP" altLang="en-US" dirty="0" smtClean="0">
                <a:latin typeface="BIZ UDPゴシック" panose="020B0400000000000000" pitchFamily="50" charset="-128"/>
                <a:ea typeface="BIZ UDPゴシック" panose="020B0400000000000000" pitchFamily="50" charset="-128"/>
              </a:rPr>
              <a:t>関数を利用する。</a:t>
            </a:r>
            <a:endParaRPr kumimoji="1" lang="en-US" altLang="ja-JP" dirty="0" smtClean="0">
              <a:latin typeface="BIZ UDPゴシック" panose="020B0400000000000000" pitchFamily="50" charset="-128"/>
              <a:ea typeface="BIZ UDPゴシック" panose="020B0400000000000000" pitchFamily="50" charset="-128"/>
            </a:endParaRPr>
          </a:p>
        </p:txBody>
      </p:sp>
      <p:pic>
        <p:nvPicPr>
          <p:cNvPr id="6" name="図 5"/>
          <p:cNvPicPr>
            <a:picLocks noChangeAspect="1"/>
          </p:cNvPicPr>
          <p:nvPr/>
        </p:nvPicPr>
        <p:blipFill>
          <a:blip r:embed="rId2"/>
          <a:stretch>
            <a:fillRect/>
          </a:stretch>
        </p:blipFill>
        <p:spPr>
          <a:xfrm>
            <a:off x="279400" y="1650916"/>
            <a:ext cx="4159439" cy="937338"/>
          </a:xfrm>
          <a:prstGeom prst="rect">
            <a:avLst/>
          </a:prstGeom>
        </p:spPr>
      </p:pic>
      <p:pic>
        <p:nvPicPr>
          <p:cNvPr id="7" name="図 6"/>
          <p:cNvPicPr>
            <a:picLocks noChangeAspect="1"/>
          </p:cNvPicPr>
          <p:nvPr/>
        </p:nvPicPr>
        <p:blipFill>
          <a:blip r:embed="rId3"/>
          <a:stretch>
            <a:fillRect/>
          </a:stretch>
        </p:blipFill>
        <p:spPr>
          <a:xfrm>
            <a:off x="5099790" y="1650916"/>
            <a:ext cx="4605886" cy="937338"/>
          </a:xfrm>
          <a:prstGeom prst="rect">
            <a:avLst/>
          </a:prstGeom>
        </p:spPr>
      </p:pic>
      <p:sp>
        <p:nvSpPr>
          <p:cNvPr id="8" name="テキスト ボックス 7"/>
          <p:cNvSpPr txBox="1"/>
          <p:nvPr/>
        </p:nvSpPr>
        <p:spPr>
          <a:xfrm>
            <a:off x="222439" y="3125424"/>
            <a:ext cx="10304424" cy="1754326"/>
          </a:xfrm>
          <a:prstGeom prst="rect">
            <a:avLst/>
          </a:prstGeom>
          <a:noFill/>
        </p:spPr>
        <p:txBody>
          <a:bodyPr wrap="none" rtlCol="0">
            <a:spAutoFit/>
          </a:bodyPr>
          <a:lstStyle/>
          <a:p>
            <a:r>
              <a:rPr lang="en-US" altLang="ja-JP" dirty="0" smtClean="0">
                <a:latin typeface="BIZ UDPゴシック" panose="020B0400000000000000" pitchFamily="50" charset="-128"/>
                <a:ea typeface="BIZ UDPゴシック" panose="020B0400000000000000" pitchFamily="50" charset="-128"/>
              </a:rPr>
              <a:t>player</a:t>
            </a:r>
            <a:r>
              <a:rPr lang="ja-JP" altLang="en-US" dirty="0" smtClean="0">
                <a:latin typeface="BIZ UDPゴシック" panose="020B0400000000000000" pitchFamily="50" charset="-128"/>
                <a:ea typeface="BIZ UDPゴシック" panose="020B0400000000000000" pitchFamily="50" charset="-128"/>
              </a:rPr>
              <a:t>と</a:t>
            </a:r>
            <a:r>
              <a:rPr lang="en-US" altLang="ja-JP" dirty="0" smtClean="0">
                <a:latin typeface="BIZ UDPゴシック" panose="020B0400000000000000" pitchFamily="50" charset="-128"/>
                <a:ea typeface="BIZ UDPゴシック" panose="020B0400000000000000" pitchFamily="50" charset="-128"/>
              </a:rPr>
              <a:t>octrock</a:t>
            </a:r>
            <a:r>
              <a:rPr lang="ja-JP" altLang="en-US" dirty="0" smtClean="0">
                <a:latin typeface="BIZ UDPゴシック" panose="020B0400000000000000" pitchFamily="50" charset="-128"/>
                <a:ea typeface="BIZ UDPゴシック" panose="020B0400000000000000" pitchFamily="50" charset="-128"/>
              </a:rPr>
              <a:t>のコンストラクタで、</a:t>
            </a:r>
            <a:r>
              <a:rPr lang="en-US" altLang="ja-JP" dirty="0" smtClean="0">
                <a:latin typeface="BIZ UDPゴシック" panose="020B0400000000000000" pitchFamily="50" charset="-128"/>
                <a:ea typeface="BIZ UDPゴシック" panose="020B0400000000000000" pitchFamily="50" charset="-128"/>
              </a:rPr>
              <a:t>ID</a:t>
            </a:r>
            <a:r>
              <a:rPr lang="ja-JP" altLang="en-US" dirty="0" smtClean="0">
                <a:latin typeface="BIZ UDPゴシック" panose="020B0400000000000000" pitchFamily="50" charset="-128"/>
                <a:ea typeface="BIZ UDPゴシック" panose="020B0400000000000000" pitchFamily="50" charset="-128"/>
              </a:rPr>
              <a:t>と</a:t>
            </a:r>
            <a:r>
              <a:rPr lang="en-US" altLang="ja-JP" dirty="0" smtClean="0">
                <a:latin typeface="BIZ UDPゴシック" panose="020B0400000000000000" pitchFamily="50" charset="-128"/>
                <a:ea typeface="BIZ UDPゴシック" panose="020B0400000000000000" pitchFamily="50" charset="-128"/>
              </a:rPr>
              <a:t>pri</a:t>
            </a:r>
            <a:r>
              <a:rPr lang="ja-JP" altLang="en-US" dirty="0" smtClean="0">
                <a:latin typeface="BIZ UDPゴシック" panose="020B0400000000000000" pitchFamily="50" charset="-128"/>
                <a:ea typeface="BIZ UDPゴシック" panose="020B0400000000000000" pitchFamily="50" charset="-128"/>
              </a:rPr>
              <a:t>を設定。</a:t>
            </a:r>
            <a:endParaRPr lang="en-US" altLang="ja-JP" dirty="0" smtClean="0">
              <a:latin typeface="BIZ UDPゴシック" panose="020B0400000000000000" pitchFamily="50" charset="-128"/>
              <a:ea typeface="BIZ UDPゴシック" panose="020B0400000000000000" pitchFamily="50" charset="-128"/>
            </a:endParaRPr>
          </a:p>
          <a:p>
            <a:endParaRPr kumimoji="1" lang="en-US" altLang="ja-JP" dirty="0" smtClean="0">
              <a:latin typeface="BIZ UDPゴシック" panose="020B0400000000000000" pitchFamily="50" charset="-128"/>
              <a:ea typeface="BIZ UDPゴシック" panose="020B0400000000000000" pitchFamily="50" charset="-128"/>
            </a:endParaRPr>
          </a:p>
          <a:p>
            <a:r>
              <a:rPr lang="ja-JP" altLang="en-US" dirty="0" smtClean="0">
                <a:latin typeface="BIZ UDPゴシック" panose="020B0400000000000000" pitchFamily="50" charset="-128"/>
                <a:ea typeface="BIZ UDPゴシック" panose="020B0400000000000000" pitchFamily="50" charset="-128"/>
              </a:rPr>
              <a:t>この当たり判定の関数を使う場合は、必ず</a:t>
            </a:r>
            <a:r>
              <a:rPr lang="en-US" altLang="ja-JP" dirty="0" smtClean="0">
                <a:latin typeface="BIZ UDPゴシック" panose="020B0400000000000000" pitchFamily="50" charset="-128"/>
                <a:ea typeface="BIZ UDPゴシック" panose="020B0400000000000000" pitchFamily="50" charset="-128"/>
              </a:rPr>
              <a:t>pri</a:t>
            </a:r>
            <a:r>
              <a:rPr lang="ja-JP" altLang="en-US" dirty="0" smtClean="0">
                <a:latin typeface="BIZ UDPゴシック" panose="020B0400000000000000" pitchFamily="50" charset="-128"/>
                <a:ea typeface="BIZ UDPゴシック" panose="020B0400000000000000" pitchFamily="50" charset="-128"/>
              </a:rPr>
              <a:t>の値を設定しておく必要があるので注意する事</a:t>
            </a:r>
            <a:endParaRPr lang="en-US" altLang="ja-JP" dirty="0" smtClean="0">
              <a:latin typeface="BIZ UDPゴシック" panose="020B0400000000000000" pitchFamily="50" charset="-128"/>
              <a:ea typeface="BIZ UDPゴシック" panose="020B0400000000000000" pitchFamily="50" charset="-128"/>
            </a:endParaRPr>
          </a:p>
          <a:p>
            <a:endParaRPr kumimoji="1" lang="en-US" altLang="ja-JP" dirty="0">
              <a:latin typeface="BIZ UDPゴシック" panose="020B0400000000000000" pitchFamily="50" charset="-128"/>
              <a:ea typeface="BIZ UDPゴシック" panose="020B0400000000000000" pitchFamily="50" charset="-128"/>
            </a:endParaRPr>
          </a:p>
          <a:p>
            <a:r>
              <a:rPr lang="ja-JP" altLang="en-US" dirty="0" smtClean="0">
                <a:latin typeface="BIZ UDPゴシック" panose="020B0400000000000000" pitchFamily="50" charset="-128"/>
                <a:ea typeface="BIZ UDPゴシック" panose="020B0400000000000000" pitchFamily="50" charset="-128"/>
              </a:rPr>
              <a:t>サンプルの多重ループを使用する場合は、必ず設定が必要。自前で作成する場合は、特に設定は不要。</a:t>
            </a:r>
            <a:endParaRPr lang="en-US" altLang="ja-JP" dirty="0" smtClean="0">
              <a:latin typeface="BIZ UDPゴシック" panose="020B0400000000000000" pitchFamily="50" charset="-128"/>
              <a:ea typeface="BIZ UDPゴシック" panose="020B0400000000000000" pitchFamily="50" charset="-128"/>
            </a:endParaRPr>
          </a:p>
          <a:p>
            <a:r>
              <a:rPr lang="en-US" altLang="ja-JP" b="1" dirty="0" smtClean="0">
                <a:solidFill>
                  <a:srgbClr val="FF0000"/>
                </a:solidFill>
                <a:latin typeface="BIZ UDPゴシック" panose="020B0400000000000000" pitchFamily="50" charset="-128"/>
                <a:ea typeface="BIZ UDPゴシック" panose="020B0400000000000000" pitchFamily="50" charset="-128"/>
              </a:rPr>
              <a:t>※</a:t>
            </a:r>
            <a:r>
              <a:rPr lang="ja-JP" altLang="en-US" b="1" dirty="0" smtClean="0">
                <a:solidFill>
                  <a:srgbClr val="FF0000"/>
                </a:solidFill>
                <a:latin typeface="BIZ UDPゴシック" panose="020B0400000000000000" pitchFamily="50" charset="-128"/>
                <a:ea typeface="BIZ UDPゴシック" panose="020B0400000000000000" pitchFamily="50" charset="-128"/>
              </a:rPr>
              <a:t>描画順としては、設定が必要</a:t>
            </a:r>
            <a:endParaRPr kumimoji="1" lang="ja-JP" altLang="en-US" b="1" dirty="0">
              <a:solidFill>
                <a:srgbClr val="FF0000"/>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7640347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194779" y="4615996"/>
            <a:ext cx="8178842" cy="507831"/>
          </a:xfrm>
          <a:prstGeom prst="rect">
            <a:avLst/>
          </a:prstGeom>
          <a:noFill/>
        </p:spPr>
        <p:txBody>
          <a:bodyPr wrap="none" rtlCol="0">
            <a:spAutoFit/>
          </a:bodyPr>
          <a:lstStyle/>
          <a:p>
            <a:pPr>
              <a:lnSpc>
                <a:spcPct val="150000"/>
              </a:lnSpc>
            </a:pPr>
            <a:r>
              <a:rPr lang="ja-JP" altLang="en-US" dirty="0">
                <a:latin typeface="BIZ UDPゴシック" panose="020B0400000000000000" pitchFamily="50" charset="-128"/>
                <a:ea typeface="BIZ UDPゴシック" panose="020B0400000000000000" pitchFamily="50" charset="-128"/>
              </a:rPr>
              <a:t>ここまでで</a:t>
            </a:r>
            <a:r>
              <a:rPr lang="ja-JP" altLang="en-US" dirty="0" smtClean="0">
                <a:latin typeface="BIZ UDPゴシック" panose="020B0400000000000000" pitchFamily="50" charset="-128"/>
                <a:ea typeface="BIZ UDPゴシック" panose="020B0400000000000000" pitchFamily="50" charset="-128"/>
              </a:rPr>
              <a:t>、実行をすると、プレイヤーと敵が当たった場合、プレイヤーが消える。</a:t>
            </a:r>
            <a:endParaRPr kumimoji="1" lang="ja-JP" altLang="en-US" dirty="0">
              <a:latin typeface="BIZ UDPゴシック" panose="020B0400000000000000" pitchFamily="50" charset="-128"/>
              <a:ea typeface="BIZ UDPゴシック" panose="020B0400000000000000" pitchFamily="50" charset="-128"/>
            </a:endParaRPr>
          </a:p>
        </p:txBody>
      </p:sp>
      <p:pic>
        <p:nvPicPr>
          <p:cNvPr id="5" name="図 4"/>
          <p:cNvPicPr>
            <a:picLocks noChangeAspect="1"/>
          </p:cNvPicPr>
          <p:nvPr/>
        </p:nvPicPr>
        <p:blipFill>
          <a:blip r:embed="rId2"/>
          <a:stretch>
            <a:fillRect/>
          </a:stretch>
        </p:blipFill>
        <p:spPr>
          <a:xfrm>
            <a:off x="194779" y="2247331"/>
            <a:ext cx="10011740" cy="2368665"/>
          </a:xfrm>
          <a:prstGeom prst="rect">
            <a:avLst/>
          </a:prstGeom>
        </p:spPr>
      </p:pic>
      <p:sp>
        <p:nvSpPr>
          <p:cNvPr id="6" name="テキスト ボックス 5"/>
          <p:cNvSpPr txBox="1"/>
          <p:nvPr/>
        </p:nvSpPr>
        <p:spPr>
          <a:xfrm>
            <a:off x="317500" y="419100"/>
            <a:ext cx="10964861" cy="1338828"/>
          </a:xfrm>
          <a:prstGeom prst="rect">
            <a:avLst/>
          </a:prstGeom>
          <a:noFill/>
        </p:spPr>
        <p:txBody>
          <a:bodyPr wrap="none" rtlCol="0">
            <a:spAutoFit/>
          </a:bodyPr>
          <a:lstStyle/>
          <a:p>
            <a:pPr>
              <a:lnSpc>
                <a:spcPct val="150000"/>
              </a:lnSpc>
            </a:pPr>
            <a:r>
              <a:rPr lang="ja-JP" altLang="en-US" dirty="0" smtClean="0">
                <a:latin typeface="BIZ UDPゴシック" panose="020B0400000000000000" pitchFamily="50" charset="-128"/>
                <a:ea typeface="BIZ UDPゴシック" panose="020B0400000000000000" pitchFamily="50" charset="-128"/>
              </a:rPr>
              <a:t>オブジェクトの</a:t>
            </a:r>
            <a:r>
              <a:rPr lang="en-US" altLang="ja-JP" b="1" dirty="0" smtClean="0">
                <a:latin typeface="BIZ UDPゴシック" panose="020B0400000000000000" pitchFamily="50" charset="-128"/>
                <a:ea typeface="BIZ UDPゴシック" panose="020B0400000000000000" pitchFamily="50" charset="-128"/>
              </a:rPr>
              <a:t>ImgWidth</a:t>
            </a:r>
            <a:r>
              <a:rPr lang="ja-JP" altLang="en-US" dirty="0" smtClean="0">
                <a:latin typeface="BIZ UDPゴシック" panose="020B0400000000000000" pitchFamily="50" charset="-128"/>
                <a:ea typeface="BIZ UDPゴシック" panose="020B0400000000000000" pitchFamily="50" charset="-128"/>
              </a:rPr>
              <a:t>と</a:t>
            </a:r>
            <a:r>
              <a:rPr lang="en-US" altLang="ja-JP" b="1" dirty="0" smtClean="0">
                <a:latin typeface="BIZ UDPゴシック" panose="020B0400000000000000" pitchFamily="50" charset="-128"/>
                <a:ea typeface="BIZ UDPゴシック" panose="020B0400000000000000" pitchFamily="50" charset="-128"/>
              </a:rPr>
              <a:t>ImgHeight</a:t>
            </a:r>
            <a:r>
              <a:rPr lang="ja-JP" altLang="en-US" dirty="0" smtClean="0">
                <a:latin typeface="BIZ UDPゴシック" panose="020B0400000000000000" pitchFamily="50" charset="-128"/>
                <a:ea typeface="BIZ UDPゴシック" panose="020B0400000000000000" pitchFamily="50" charset="-128"/>
              </a:rPr>
              <a:t>を設定していれば、</a:t>
            </a:r>
            <a:r>
              <a:rPr lang="en-US" altLang="ja-JP" b="1" dirty="0" smtClean="0">
                <a:latin typeface="BIZ UDPゴシック" panose="020B0400000000000000" pitchFamily="50" charset="-128"/>
                <a:ea typeface="BIZ UDPゴシック" panose="020B0400000000000000" pitchFamily="50" charset="-128"/>
              </a:rPr>
              <a:t>HitCheck_Box2</a:t>
            </a:r>
            <a:r>
              <a:rPr lang="ja-JP" altLang="en-US" dirty="0" smtClean="0">
                <a:latin typeface="BIZ UDPゴシック" panose="020B0400000000000000" pitchFamily="50" charset="-128"/>
                <a:ea typeface="BIZ UDPゴシック" panose="020B0400000000000000" pitchFamily="50" charset="-128"/>
              </a:rPr>
              <a:t>を使って判定ができる。</a:t>
            </a:r>
            <a:endParaRPr lang="en-US" altLang="ja-JP" dirty="0" smtClean="0">
              <a:latin typeface="BIZ UDPゴシック" panose="020B0400000000000000" pitchFamily="50" charset="-128"/>
              <a:ea typeface="BIZ UDPゴシック" panose="020B0400000000000000" pitchFamily="50" charset="-128"/>
            </a:endParaRPr>
          </a:p>
          <a:p>
            <a:pPr>
              <a:lnSpc>
                <a:spcPct val="150000"/>
              </a:lnSpc>
            </a:pPr>
            <a:r>
              <a:rPr kumimoji="1" lang="ja-JP" altLang="en-US" dirty="0" smtClean="0">
                <a:latin typeface="BIZ UDPゴシック" panose="020B0400000000000000" pitchFamily="50" charset="-128"/>
                <a:ea typeface="BIZ UDPゴシック" panose="020B0400000000000000" pitchFamily="50" charset="-128"/>
              </a:rPr>
              <a:t>この</a:t>
            </a:r>
            <a:r>
              <a:rPr lang="en-US" altLang="ja-JP" b="1" dirty="0" smtClean="0">
                <a:latin typeface="BIZ UDPゴシック" panose="020B0400000000000000" pitchFamily="50" charset="-128"/>
                <a:ea typeface="BIZ UDPゴシック" panose="020B0400000000000000" pitchFamily="50" charset="-128"/>
              </a:rPr>
              <a:t>HitCheck_Box2</a:t>
            </a:r>
            <a:r>
              <a:rPr lang="ja-JP" altLang="en-US" dirty="0" smtClean="0">
                <a:latin typeface="BIZ UDPゴシック" panose="020B0400000000000000" pitchFamily="50" charset="-128"/>
                <a:ea typeface="BIZ UDPゴシック" panose="020B0400000000000000" pitchFamily="50" charset="-128"/>
              </a:rPr>
              <a:t>は、</a:t>
            </a:r>
            <a:r>
              <a:rPr lang="en-US" altLang="ja-JP" b="1" dirty="0" smtClean="0">
                <a:latin typeface="BIZ UDPゴシック" panose="020B0400000000000000" pitchFamily="50" charset="-128"/>
                <a:ea typeface="BIZ UDPゴシック" panose="020B0400000000000000" pitchFamily="50" charset="-128"/>
              </a:rPr>
              <a:t>pos</a:t>
            </a:r>
            <a:r>
              <a:rPr lang="ja-JP" altLang="en-US" dirty="0">
                <a:latin typeface="BIZ UDPゴシック" panose="020B0400000000000000" pitchFamily="50" charset="-128"/>
                <a:ea typeface="BIZ UDPゴシック" panose="020B0400000000000000" pitchFamily="50" charset="-128"/>
              </a:rPr>
              <a:t>が</a:t>
            </a:r>
            <a:r>
              <a:rPr lang="ja-JP" altLang="en-US" b="1" dirty="0" smtClean="0">
                <a:latin typeface="BIZ UDPゴシック" panose="020B0400000000000000" pitchFamily="50" charset="-128"/>
                <a:ea typeface="BIZ UDPゴシック" panose="020B0400000000000000" pitchFamily="50" charset="-128"/>
              </a:rPr>
              <a:t>中心</a:t>
            </a:r>
            <a:r>
              <a:rPr lang="ja-JP" altLang="en-US" dirty="0" smtClean="0">
                <a:latin typeface="BIZ UDPゴシック" panose="020B0400000000000000" pitchFamily="50" charset="-128"/>
                <a:ea typeface="BIZ UDPゴシック" panose="020B0400000000000000" pitchFamily="50" charset="-128"/>
              </a:rPr>
              <a:t>で、</a:t>
            </a:r>
            <a:r>
              <a:rPr lang="en-US" altLang="ja-JP" b="1" dirty="0" smtClean="0">
                <a:latin typeface="BIZ UDPゴシック" panose="020B0400000000000000" pitchFamily="50" charset="-128"/>
                <a:ea typeface="BIZ UDPゴシック" panose="020B0400000000000000" pitchFamily="50" charset="-128"/>
              </a:rPr>
              <a:t>ImgWidth</a:t>
            </a:r>
            <a:r>
              <a:rPr lang="ja-JP" altLang="en-US" dirty="0" smtClean="0">
                <a:latin typeface="BIZ UDPゴシック" panose="020B0400000000000000" pitchFamily="50" charset="-128"/>
                <a:ea typeface="BIZ UDPゴシック" panose="020B0400000000000000" pitchFamily="50" charset="-128"/>
              </a:rPr>
              <a:t>と</a:t>
            </a:r>
            <a:r>
              <a:rPr lang="en-US" altLang="ja-JP" b="1" dirty="0" smtClean="0">
                <a:latin typeface="BIZ UDPゴシック" panose="020B0400000000000000" pitchFamily="50" charset="-128"/>
                <a:ea typeface="BIZ UDPゴシック" panose="020B0400000000000000" pitchFamily="50" charset="-128"/>
              </a:rPr>
              <a:t>ImgHeight</a:t>
            </a:r>
            <a:r>
              <a:rPr lang="ja-JP" altLang="en-US" dirty="0" smtClean="0">
                <a:latin typeface="BIZ UDPゴシック" panose="020B0400000000000000" pitchFamily="50" charset="-128"/>
                <a:ea typeface="BIZ UDPゴシック" panose="020B0400000000000000" pitchFamily="50" charset="-128"/>
              </a:rPr>
              <a:t>の矩形同士の判定をする。</a:t>
            </a:r>
            <a:endParaRPr lang="en-US" altLang="ja-JP" dirty="0" smtClean="0">
              <a:latin typeface="BIZ UDPゴシック" panose="020B0400000000000000" pitchFamily="50" charset="-128"/>
              <a:ea typeface="BIZ UDPゴシック" panose="020B0400000000000000" pitchFamily="50" charset="-128"/>
            </a:endParaRPr>
          </a:p>
          <a:p>
            <a:pPr>
              <a:lnSpc>
                <a:spcPct val="150000"/>
              </a:lnSpc>
            </a:pPr>
            <a:r>
              <a:rPr lang="en-US" altLang="ja-JP" dirty="0" smtClean="0">
                <a:latin typeface="BIZ UDPゴシック" panose="020B0400000000000000" pitchFamily="50" charset="-128"/>
                <a:ea typeface="BIZ UDPゴシック" panose="020B0400000000000000" pitchFamily="50" charset="-128"/>
              </a:rPr>
              <a:t>※sprite</a:t>
            </a:r>
            <a:r>
              <a:rPr lang="ja-JP" altLang="en-US" dirty="0" smtClean="0">
                <a:latin typeface="BIZ UDPゴシック" panose="020B0400000000000000" pitchFamily="50" charset="-128"/>
                <a:ea typeface="BIZ UDPゴシック" panose="020B0400000000000000" pitchFamily="50" charset="-128"/>
              </a:rPr>
              <a:t>を使って描画をしている場合で、オブジェクトの角度が関係ない矩形の判定は、これを使用すると楽</a:t>
            </a: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065686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254000" y="342900"/>
            <a:ext cx="2898550" cy="369332"/>
          </a:xfrm>
          <a:prstGeom prst="rect">
            <a:avLst/>
          </a:prstGeom>
          <a:noFill/>
        </p:spPr>
        <p:txBody>
          <a:bodyPr wrap="none" rtlCol="0">
            <a:spAutoFit/>
          </a:bodyPr>
          <a:lstStyle/>
          <a:p>
            <a:r>
              <a:rPr lang="ja-JP" altLang="en-US" dirty="0" smtClean="0">
                <a:latin typeface="BIZ UDPゴシック" panose="020B0400000000000000" pitchFamily="50" charset="-128"/>
                <a:ea typeface="BIZ UDPゴシック" panose="020B0400000000000000" pitchFamily="50" charset="-128"/>
              </a:rPr>
              <a:t>ノックバック処理と</a:t>
            </a:r>
            <a:r>
              <a:rPr lang="en-US" altLang="ja-JP" dirty="0" smtClean="0">
                <a:latin typeface="BIZ UDPゴシック" panose="020B0400000000000000" pitchFamily="50" charset="-128"/>
                <a:ea typeface="BIZ UDPゴシック" panose="020B0400000000000000" pitchFamily="50" charset="-128"/>
              </a:rPr>
              <a:t>HP</a:t>
            </a:r>
            <a:r>
              <a:rPr lang="ja-JP" altLang="en-US" dirty="0" smtClean="0">
                <a:latin typeface="BIZ UDPゴシック" panose="020B0400000000000000" pitchFamily="50" charset="-128"/>
                <a:ea typeface="BIZ UDPゴシック" panose="020B0400000000000000" pitchFamily="50" charset="-128"/>
              </a:rPr>
              <a:t>処理</a:t>
            </a:r>
            <a:endParaRPr kumimoji="1" lang="en-US" altLang="ja-JP" dirty="0" smtClean="0">
              <a:latin typeface="BIZ UDPゴシック" panose="020B0400000000000000" pitchFamily="50" charset="-128"/>
              <a:ea typeface="BIZ UDPゴシック" panose="020B0400000000000000" pitchFamily="50" charset="-128"/>
            </a:endParaRPr>
          </a:p>
        </p:txBody>
      </p:sp>
      <p:sp>
        <p:nvSpPr>
          <p:cNvPr id="5" name="テキスト ボックス 4"/>
          <p:cNvSpPr txBox="1"/>
          <p:nvPr/>
        </p:nvSpPr>
        <p:spPr>
          <a:xfrm>
            <a:off x="254000" y="1066284"/>
            <a:ext cx="9145452" cy="369332"/>
          </a:xfrm>
          <a:prstGeom prst="rect">
            <a:avLst/>
          </a:prstGeom>
          <a:noFill/>
        </p:spPr>
        <p:txBody>
          <a:bodyPr wrap="none" rtlCol="0">
            <a:spAutoFit/>
          </a:bodyPr>
          <a:lstStyle/>
          <a:p>
            <a:r>
              <a:rPr kumimoji="1" lang="ja-JP" altLang="en-US" dirty="0" smtClean="0">
                <a:latin typeface="BIZ UDPゴシック" panose="020B0400000000000000" pitchFamily="50" charset="-128"/>
                <a:ea typeface="BIZ UDPゴシック" panose="020B0400000000000000" pitchFamily="50" charset="-128"/>
              </a:rPr>
              <a:t>敵に当たったりダメージを受けた場合に、ノックバックする処理をプレイヤーに追加する。</a:t>
            </a:r>
            <a:endParaRPr kumimoji="1" lang="en-US" altLang="ja-JP" dirty="0" smtClean="0">
              <a:latin typeface="BIZ UDPゴシック" panose="020B0400000000000000" pitchFamily="50" charset="-128"/>
              <a:ea typeface="BIZ UDPゴシック" panose="020B0400000000000000" pitchFamily="50" charset="-128"/>
            </a:endParaRPr>
          </a:p>
        </p:txBody>
      </p:sp>
      <p:pic>
        <p:nvPicPr>
          <p:cNvPr id="6" name="図 5"/>
          <p:cNvPicPr>
            <a:picLocks noChangeAspect="1"/>
          </p:cNvPicPr>
          <p:nvPr/>
        </p:nvPicPr>
        <p:blipFill>
          <a:blip r:embed="rId2"/>
          <a:stretch>
            <a:fillRect/>
          </a:stretch>
        </p:blipFill>
        <p:spPr>
          <a:xfrm>
            <a:off x="254000" y="2628070"/>
            <a:ext cx="4584905" cy="1500259"/>
          </a:xfrm>
          <a:prstGeom prst="rect">
            <a:avLst/>
          </a:prstGeom>
        </p:spPr>
      </p:pic>
      <p:sp>
        <p:nvSpPr>
          <p:cNvPr id="7" name="テキスト ボックス 6"/>
          <p:cNvSpPr txBox="1"/>
          <p:nvPr/>
        </p:nvSpPr>
        <p:spPr>
          <a:xfrm>
            <a:off x="254000" y="1993900"/>
            <a:ext cx="4482317" cy="369332"/>
          </a:xfrm>
          <a:prstGeom prst="rect">
            <a:avLst/>
          </a:prstGeom>
          <a:noFill/>
        </p:spPr>
        <p:txBody>
          <a:bodyPr wrap="none" rtlCol="0">
            <a:spAutoFit/>
          </a:bodyPr>
          <a:lstStyle/>
          <a:p>
            <a:r>
              <a:rPr lang="en-US" altLang="ja-JP" dirty="0" err="1" smtClean="0">
                <a:latin typeface="BIZ UDPゴシック" panose="020B0400000000000000" pitchFamily="50" charset="-128"/>
                <a:ea typeface="BIZ UDPゴシック" panose="020B0400000000000000" pitchFamily="50" charset="-128"/>
              </a:rPr>
              <a:t>CPlayer</a:t>
            </a:r>
            <a:r>
              <a:rPr lang="ja-JP" altLang="en-US" dirty="0" smtClean="0">
                <a:latin typeface="BIZ UDPゴシック" panose="020B0400000000000000" pitchFamily="50" charset="-128"/>
                <a:ea typeface="BIZ UDPゴシック" panose="020B0400000000000000" pitchFamily="50" charset="-128"/>
              </a:rPr>
              <a:t>クラスに二つの変数を新しく定義</a:t>
            </a:r>
            <a:endParaRPr kumimoji="1" lang="en-US" altLang="ja-JP"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936257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p:cNvSpPr txBox="1"/>
          <p:nvPr/>
        </p:nvSpPr>
        <p:spPr>
          <a:xfrm>
            <a:off x="381988" y="0"/>
            <a:ext cx="3954929" cy="369332"/>
          </a:xfrm>
          <a:prstGeom prst="rect">
            <a:avLst/>
          </a:prstGeom>
          <a:noFill/>
        </p:spPr>
        <p:txBody>
          <a:bodyPr wrap="none" rtlCol="0">
            <a:spAutoFit/>
          </a:bodyPr>
          <a:lstStyle/>
          <a:p>
            <a:r>
              <a:rPr lang="en-US" altLang="ja-JP" dirty="0" smtClean="0">
                <a:latin typeface="BIZ UDPゴシック" panose="020B0400000000000000" pitchFamily="50" charset="-128"/>
                <a:ea typeface="BIZ UDPゴシック" panose="020B0400000000000000" pitchFamily="50" charset="-128"/>
              </a:rPr>
              <a:t>player.cpp</a:t>
            </a:r>
            <a:r>
              <a:rPr lang="ja-JP" altLang="en-US" dirty="0" smtClean="0">
                <a:latin typeface="BIZ UDPゴシック" panose="020B0400000000000000" pitchFamily="50" charset="-128"/>
                <a:ea typeface="BIZ UDPゴシック" panose="020B0400000000000000" pitchFamily="50" charset="-128"/>
              </a:rPr>
              <a:t>の</a:t>
            </a:r>
            <a:r>
              <a:rPr lang="en-US" altLang="ja-JP" dirty="0" smtClean="0">
                <a:latin typeface="BIZ UDPゴシック" panose="020B0400000000000000" pitchFamily="50" charset="-128"/>
                <a:ea typeface="BIZ UDPゴシック" panose="020B0400000000000000" pitchFamily="50" charset="-128"/>
              </a:rPr>
              <a:t>Action</a:t>
            </a:r>
            <a:r>
              <a:rPr lang="ja-JP" altLang="en-US" dirty="0" smtClean="0">
                <a:latin typeface="BIZ UDPゴシック" panose="020B0400000000000000" pitchFamily="50" charset="-128"/>
                <a:ea typeface="BIZ UDPゴシック" panose="020B0400000000000000" pitchFamily="50" charset="-128"/>
              </a:rPr>
              <a:t>に処理を追加</a:t>
            </a:r>
            <a:endParaRPr kumimoji="1" lang="en-US" altLang="ja-JP" dirty="0" smtClean="0">
              <a:latin typeface="BIZ UDPゴシック" panose="020B0400000000000000" pitchFamily="50" charset="-128"/>
              <a:ea typeface="BIZ UDPゴシック" panose="020B0400000000000000" pitchFamily="50" charset="-128"/>
            </a:endParaRPr>
          </a:p>
        </p:txBody>
      </p:sp>
      <p:pic>
        <p:nvPicPr>
          <p:cNvPr id="6" name="図 5"/>
          <p:cNvPicPr>
            <a:picLocks noChangeAspect="1"/>
          </p:cNvPicPr>
          <p:nvPr/>
        </p:nvPicPr>
        <p:blipFill>
          <a:blip r:embed="rId2"/>
          <a:stretch>
            <a:fillRect/>
          </a:stretch>
        </p:blipFill>
        <p:spPr>
          <a:xfrm>
            <a:off x="381988" y="362466"/>
            <a:ext cx="8869013" cy="6268325"/>
          </a:xfrm>
          <a:prstGeom prst="rect">
            <a:avLst/>
          </a:prstGeom>
        </p:spPr>
      </p:pic>
      <p:sp>
        <p:nvSpPr>
          <p:cNvPr id="7" name="正方形/長方形 6"/>
          <p:cNvSpPr/>
          <p:nvPr/>
        </p:nvSpPr>
        <p:spPr>
          <a:xfrm>
            <a:off x="698500" y="1219200"/>
            <a:ext cx="8432800" cy="53213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2689350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305788" y="127000"/>
            <a:ext cx="3518912" cy="923330"/>
          </a:xfrm>
          <a:prstGeom prst="rect">
            <a:avLst/>
          </a:prstGeom>
          <a:noFill/>
        </p:spPr>
        <p:txBody>
          <a:bodyPr wrap="none" rtlCol="0">
            <a:spAutoFit/>
          </a:bodyPr>
          <a:lstStyle/>
          <a:p>
            <a:r>
              <a:rPr lang="ja-JP" altLang="en-US" dirty="0">
                <a:latin typeface="BIZ UDPゴシック" panose="020B0400000000000000" pitchFamily="50" charset="-128"/>
                <a:ea typeface="BIZ UDPゴシック" panose="020B0400000000000000" pitchFamily="50" charset="-128"/>
              </a:rPr>
              <a:t>ノックバック</a:t>
            </a:r>
            <a:r>
              <a:rPr lang="ja-JP" altLang="en-US" dirty="0" smtClean="0">
                <a:latin typeface="BIZ UDPゴシック" panose="020B0400000000000000" pitchFamily="50" charset="-128"/>
                <a:ea typeface="BIZ UDPゴシック" panose="020B0400000000000000" pitchFamily="50" charset="-128"/>
              </a:rPr>
              <a:t>処理の</a:t>
            </a:r>
            <a:r>
              <a:rPr lang="ja-JP" altLang="en-US" dirty="0" smtClean="0">
                <a:latin typeface="BIZ UDPゴシック" panose="020B0400000000000000" pitchFamily="50" charset="-128"/>
                <a:ea typeface="BIZ UDPゴシック" panose="020B0400000000000000" pitchFamily="50" charset="-128"/>
              </a:rPr>
              <a:t>流れ</a:t>
            </a:r>
            <a:endParaRPr lang="en-US" altLang="ja-JP" dirty="0" smtClean="0">
              <a:latin typeface="BIZ UDPゴシック" panose="020B0400000000000000" pitchFamily="50" charset="-128"/>
              <a:ea typeface="BIZ UDPゴシック" panose="020B0400000000000000" pitchFamily="50" charset="-128"/>
            </a:endParaRPr>
          </a:p>
          <a:p>
            <a:endParaRPr kumimoji="1" lang="en-US" altLang="ja-JP" dirty="0" smtClean="0">
              <a:latin typeface="BIZ UDPゴシック" panose="020B0400000000000000" pitchFamily="50" charset="-128"/>
              <a:ea typeface="BIZ UDPゴシック" panose="020B0400000000000000" pitchFamily="50" charset="-128"/>
            </a:endParaRPr>
          </a:p>
          <a:p>
            <a:r>
              <a:rPr kumimoji="1" lang="ja-JP" altLang="en-US" dirty="0" smtClean="0">
                <a:latin typeface="BIZ UDPゴシック" panose="020B0400000000000000" pitchFamily="50" charset="-128"/>
                <a:ea typeface="BIZ UDPゴシック" panose="020B0400000000000000" pitchFamily="50" charset="-128"/>
              </a:rPr>
              <a:t>プレイヤーと敵の判定処理を変更</a:t>
            </a:r>
            <a:endParaRPr kumimoji="1" lang="en-US" altLang="ja-JP" dirty="0" smtClean="0">
              <a:latin typeface="BIZ UDPゴシック" panose="020B0400000000000000" pitchFamily="50" charset="-128"/>
              <a:ea typeface="BIZ UDPゴシック" panose="020B0400000000000000" pitchFamily="50" charset="-128"/>
            </a:endParaRPr>
          </a:p>
        </p:txBody>
      </p:sp>
      <p:sp>
        <p:nvSpPr>
          <p:cNvPr id="5" name="テキスト ボックス 4"/>
          <p:cNvSpPr txBox="1"/>
          <p:nvPr/>
        </p:nvSpPr>
        <p:spPr>
          <a:xfrm>
            <a:off x="353929" y="4237808"/>
            <a:ext cx="5979522" cy="369332"/>
          </a:xfrm>
          <a:prstGeom prst="rect">
            <a:avLst/>
          </a:prstGeom>
          <a:noFill/>
        </p:spPr>
        <p:txBody>
          <a:bodyPr wrap="none" rtlCol="0">
            <a:spAutoFit/>
          </a:bodyPr>
          <a:lstStyle/>
          <a:p>
            <a:r>
              <a:rPr kumimoji="1" lang="ja-JP" altLang="en-US" dirty="0" smtClean="0">
                <a:latin typeface="BIZ UDPゴシック" panose="020B0400000000000000" pitchFamily="50" charset="-128"/>
                <a:ea typeface="BIZ UDPゴシック" panose="020B0400000000000000" pitchFamily="50" charset="-128"/>
              </a:rPr>
              <a:t>②求めたベクトルの大きさをノックバックする</a:t>
            </a:r>
            <a:r>
              <a:rPr lang="ja-JP" altLang="en-US" dirty="0" smtClean="0">
                <a:latin typeface="BIZ UDPゴシック" panose="020B0400000000000000" pitchFamily="50" charset="-128"/>
                <a:ea typeface="BIZ UDPゴシック" panose="020B0400000000000000" pitchFamily="50" charset="-128"/>
              </a:rPr>
              <a:t>距離にする。</a:t>
            </a:r>
            <a:endParaRPr lang="en-US" altLang="ja-JP" dirty="0" smtClean="0">
              <a:latin typeface="BIZ UDPゴシック" panose="020B0400000000000000" pitchFamily="50" charset="-128"/>
              <a:ea typeface="BIZ UDPゴシック" panose="020B0400000000000000" pitchFamily="50" charset="-128"/>
            </a:endParaRPr>
          </a:p>
        </p:txBody>
      </p:sp>
      <p:pic>
        <p:nvPicPr>
          <p:cNvPr id="6" name="図 5"/>
          <p:cNvPicPr>
            <a:picLocks noChangeAspect="1"/>
          </p:cNvPicPr>
          <p:nvPr/>
        </p:nvPicPr>
        <p:blipFill>
          <a:blip r:embed="rId2"/>
          <a:stretch>
            <a:fillRect/>
          </a:stretch>
        </p:blipFill>
        <p:spPr>
          <a:xfrm>
            <a:off x="495049" y="1888385"/>
            <a:ext cx="4964531" cy="2125770"/>
          </a:xfrm>
          <a:prstGeom prst="rect">
            <a:avLst/>
          </a:prstGeom>
        </p:spPr>
      </p:pic>
      <p:sp>
        <p:nvSpPr>
          <p:cNvPr id="8" name="正方形/長方形 7"/>
          <p:cNvSpPr/>
          <p:nvPr/>
        </p:nvSpPr>
        <p:spPr>
          <a:xfrm>
            <a:off x="6488777" y="2163802"/>
            <a:ext cx="939800" cy="939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smtClean="0"/>
              <a:t>b</a:t>
            </a:r>
          </a:p>
          <a:p>
            <a:pPr algn="ctr"/>
            <a:r>
              <a:rPr lang="ja-JP" altLang="en-US" dirty="0" smtClean="0"/>
              <a:t>敵</a:t>
            </a:r>
            <a:endParaRPr kumimoji="1" lang="ja-JP" altLang="en-US" dirty="0"/>
          </a:p>
        </p:txBody>
      </p:sp>
      <p:sp>
        <p:nvSpPr>
          <p:cNvPr id="9" name="正方形/長方形 8"/>
          <p:cNvSpPr/>
          <p:nvPr/>
        </p:nvSpPr>
        <p:spPr>
          <a:xfrm>
            <a:off x="7137897" y="2871087"/>
            <a:ext cx="939800" cy="9398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kumimoji="1" lang="en-US" altLang="ja-JP" dirty="0" smtClean="0"/>
              <a:t>a</a:t>
            </a:r>
          </a:p>
          <a:p>
            <a:pPr algn="ctr"/>
            <a:r>
              <a:rPr kumimoji="1" lang="ja-JP" altLang="en-US" sz="1100" dirty="0" smtClean="0"/>
              <a:t>プレイヤー</a:t>
            </a:r>
            <a:endParaRPr kumimoji="1" lang="ja-JP" altLang="en-US" sz="1100" dirty="0"/>
          </a:p>
        </p:txBody>
      </p:sp>
      <p:sp>
        <p:nvSpPr>
          <p:cNvPr id="10" name="テキスト ボックス 9"/>
          <p:cNvSpPr txBox="1"/>
          <p:nvPr/>
        </p:nvSpPr>
        <p:spPr>
          <a:xfrm>
            <a:off x="305788" y="1422400"/>
            <a:ext cx="8393644" cy="369332"/>
          </a:xfrm>
          <a:prstGeom prst="rect">
            <a:avLst/>
          </a:prstGeom>
          <a:noFill/>
        </p:spPr>
        <p:txBody>
          <a:bodyPr wrap="none" rtlCol="0">
            <a:spAutoFit/>
          </a:bodyPr>
          <a:lstStyle/>
          <a:p>
            <a:r>
              <a:rPr lang="ja-JP" altLang="en-US" dirty="0" smtClean="0">
                <a:latin typeface="BIZ UDPゴシック" panose="020B0400000000000000" pitchFamily="50" charset="-128"/>
                <a:ea typeface="BIZ UDPゴシック" panose="020B0400000000000000" pitchFamily="50" charset="-128"/>
              </a:rPr>
              <a:t>①当たった</a:t>
            </a:r>
            <a:r>
              <a:rPr lang="ja-JP" altLang="en-US" dirty="0" smtClean="0">
                <a:latin typeface="BIZ UDPゴシック" panose="020B0400000000000000" pitchFamily="50" charset="-128"/>
                <a:ea typeface="BIZ UDPゴシック" panose="020B0400000000000000" pitchFamily="50" charset="-128"/>
              </a:rPr>
              <a:t>時の処理に</a:t>
            </a:r>
            <a:r>
              <a:rPr lang="ja-JP" altLang="en-US" dirty="0" smtClean="0">
                <a:latin typeface="BIZ UDPゴシック" panose="020B0400000000000000" pitchFamily="50" charset="-128"/>
                <a:ea typeface="BIZ UDPゴシック" panose="020B0400000000000000" pitchFamily="50" charset="-128"/>
              </a:rPr>
              <a:t>、ノックバックする方向のベクトルを</a:t>
            </a:r>
            <a:r>
              <a:rPr lang="ja-JP" altLang="en-US" dirty="0" smtClean="0">
                <a:latin typeface="BIZ UDPゴシック" panose="020B0400000000000000" pitchFamily="50" charset="-128"/>
                <a:ea typeface="BIZ UDPゴシック" panose="020B0400000000000000" pitchFamily="50" charset="-128"/>
              </a:rPr>
              <a:t>求める処理を記述する。</a:t>
            </a:r>
            <a:endParaRPr kumimoji="1" lang="en-US" altLang="ja-JP" dirty="0" smtClean="0">
              <a:latin typeface="BIZ UDPゴシック" panose="020B0400000000000000" pitchFamily="50" charset="-128"/>
              <a:ea typeface="BIZ UDPゴシック" panose="020B0400000000000000" pitchFamily="50" charset="-128"/>
            </a:endParaRPr>
          </a:p>
        </p:txBody>
      </p:sp>
      <p:cxnSp>
        <p:nvCxnSpPr>
          <p:cNvPr id="12" name="直線コネクタ 11"/>
          <p:cNvCxnSpPr/>
          <p:nvPr/>
        </p:nvCxnSpPr>
        <p:spPr>
          <a:xfrm>
            <a:off x="8545254" y="2533134"/>
            <a:ext cx="649120" cy="707285"/>
          </a:xfrm>
          <a:prstGeom prst="line">
            <a:avLst/>
          </a:prstGeom>
          <a:ln w="38100">
            <a:solidFill>
              <a:srgbClr val="FF000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
        <p:nvSpPr>
          <p:cNvPr id="13" name="テキスト ボックス 12"/>
          <p:cNvSpPr txBox="1"/>
          <p:nvPr/>
        </p:nvSpPr>
        <p:spPr>
          <a:xfrm>
            <a:off x="7899471" y="2163802"/>
            <a:ext cx="1473480" cy="369332"/>
          </a:xfrm>
          <a:prstGeom prst="rect">
            <a:avLst/>
          </a:prstGeom>
          <a:noFill/>
        </p:spPr>
        <p:txBody>
          <a:bodyPr wrap="none" rtlCol="0">
            <a:spAutoFit/>
          </a:bodyPr>
          <a:lstStyle/>
          <a:p>
            <a:r>
              <a:rPr kumimoji="1" lang="en-US" altLang="ja-JP" dirty="0" smtClean="0">
                <a:latin typeface="BIZ UDPゴシック" panose="020B0400000000000000" pitchFamily="50" charset="-128"/>
                <a:ea typeface="BIZ UDPゴシック" panose="020B0400000000000000" pitchFamily="50" charset="-128"/>
              </a:rPr>
              <a:t>a-b</a:t>
            </a:r>
            <a:r>
              <a:rPr kumimoji="1" lang="ja-JP" altLang="en-US" dirty="0" smtClean="0">
                <a:latin typeface="BIZ UDPゴシック" panose="020B0400000000000000" pitchFamily="50" charset="-128"/>
                <a:ea typeface="BIZ UDPゴシック" panose="020B0400000000000000" pitchFamily="50" charset="-128"/>
              </a:rPr>
              <a:t>ベクトル</a:t>
            </a:r>
            <a:endParaRPr kumimoji="1" lang="en-US" altLang="ja-JP" dirty="0" smtClean="0">
              <a:latin typeface="BIZ UDPゴシック" panose="020B0400000000000000" pitchFamily="50" charset="-128"/>
              <a:ea typeface="BIZ UDPゴシック" panose="020B0400000000000000" pitchFamily="50" charset="-128"/>
            </a:endParaRPr>
          </a:p>
        </p:txBody>
      </p:sp>
      <p:sp>
        <p:nvSpPr>
          <p:cNvPr id="14" name="テキスト ボックス 13"/>
          <p:cNvSpPr txBox="1"/>
          <p:nvPr/>
        </p:nvSpPr>
        <p:spPr>
          <a:xfrm>
            <a:off x="356328" y="4810186"/>
            <a:ext cx="4689104" cy="369332"/>
          </a:xfrm>
          <a:prstGeom prst="rect">
            <a:avLst/>
          </a:prstGeom>
          <a:noFill/>
        </p:spPr>
        <p:txBody>
          <a:bodyPr wrap="none" rtlCol="0">
            <a:spAutoFit/>
          </a:bodyPr>
          <a:lstStyle/>
          <a:p>
            <a:r>
              <a:rPr lang="ja-JP" altLang="en-US" dirty="0" smtClean="0">
                <a:latin typeface="BIZ UDPゴシック" panose="020B0400000000000000" pitchFamily="50" charset="-128"/>
                <a:ea typeface="BIZ UDPゴシック" panose="020B0400000000000000" pitchFamily="50" charset="-128"/>
              </a:rPr>
              <a:t>③プレイヤーのノックバックベクトルに代入。</a:t>
            </a:r>
            <a:endParaRPr lang="en-US" altLang="ja-JP" dirty="0" smtClean="0">
              <a:latin typeface="BIZ UDPゴシック" panose="020B0400000000000000" pitchFamily="50" charset="-128"/>
              <a:ea typeface="BIZ UDPゴシック" panose="020B0400000000000000" pitchFamily="50" charset="-128"/>
            </a:endParaRPr>
          </a:p>
        </p:txBody>
      </p:sp>
      <p:pic>
        <p:nvPicPr>
          <p:cNvPr id="15" name="図 14"/>
          <p:cNvPicPr>
            <a:picLocks noChangeAspect="1"/>
          </p:cNvPicPr>
          <p:nvPr/>
        </p:nvPicPr>
        <p:blipFill>
          <a:blip r:embed="rId3"/>
          <a:stretch>
            <a:fillRect/>
          </a:stretch>
        </p:blipFill>
        <p:spPr>
          <a:xfrm>
            <a:off x="495049" y="5382564"/>
            <a:ext cx="4158566" cy="406477"/>
          </a:xfrm>
          <a:prstGeom prst="rect">
            <a:avLst/>
          </a:prstGeom>
        </p:spPr>
      </p:pic>
      <p:sp>
        <p:nvSpPr>
          <p:cNvPr id="16" name="テキスト ボックス 15"/>
          <p:cNvSpPr txBox="1"/>
          <p:nvPr/>
        </p:nvSpPr>
        <p:spPr>
          <a:xfrm>
            <a:off x="356328" y="6075886"/>
            <a:ext cx="4883068" cy="369332"/>
          </a:xfrm>
          <a:prstGeom prst="rect">
            <a:avLst/>
          </a:prstGeom>
          <a:noFill/>
        </p:spPr>
        <p:txBody>
          <a:bodyPr wrap="none" rtlCol="0">
            <a:spAutoFit/>
          </a:bodyPr>
          <a:lstStyle/>
          <a:p>
            <a:r>
              <a:rPr lang="ja-JP" altLang="en-US" dirty="0" smtClean="0">
                <a:latin typeface="BIZ UDPゴシック" panose="020B0400000000000000" pitchFamily="50" charset="-128"/>
                <a:ea typeface="BIZ UDPゴシック" panose="020B0400000000000000" pitchFamily="50" charset="-128"/>
              </a:rPr>
              <a:t>④ノックバック処理を完了するフレームを設定</a:t>
            </a:r>
            <a:endParaRPr lang="en-US" altLang="ja-JP" dirty="0" smtClea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992481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a:blip r:embed="rId2"/>
          <a:stretch>
            <a:fillRect/>
          </a:stretch>
        </p:blipFill>
        <p:spPr>
          <a:xfrm>
            <a:off x="515780" y="1343615"/>
            <a:ext cx="3278360" cy="924017"/>
          </a:xfrm>
          <a:prstGeom prst="rect">
            <a:avLst/>
          </a:prstGeom>
        </p:spPr>
      </p:pic>
      <p:sp>
        <p:nvSpPr>
          <p:cNvPr id="5" name="テキスト ボックス 4"/>
          <p:cNvSpPr txBox="1"/>
          <p:nvPr/>
        </p:nvSpPr>
        <p:spPr>
          <a:xfrm>
            <a:off x="381988" y="203200"/>
            <a:ext cx="5253361" cy="369332"/>
          </a:xfrm>
          <a:prstGeom prst="rect">
            <a:avLst/>
          </a:prstGeom>
          <a:noFill/>
        </p:spPr>
        <p:txBody>
          <a:bodyPr wrap="none" rtlCol="0">
            <a:spAutoFit/>
          </a:bodyPr>
          <a:lstStyle/>
          <a:p>
            <a:r>
              <a:rPr lang="ja-JP" altLang="en-US" dirty="0" smtClean="0">
                <a:latin typeface="BIZ UDPゴシック" panose="020B0400000000000000" pitchFamily="50" charset="-128"/>
                <a:ea typeface="BIZ UDPゴシック" panose="020B0400000000000000" pitchFamily="50" charset="-128"/>
              </a:rPr>
              <a:t>後は、プレイヤーのアクションで処理を完了させる。</a:t>
            </a:r>
            <a:endParaRPr kumimoji="1" lang="en-US" altLang="ja-JP" dirty="0" smtClean="0">
              <a:latin typeface="BIZ UDPゴシック" panose="020B0400000000000000" pitchFamily="50" charset="-128"/>
              <a:ea typeface="BIZ UDPゴシック" panose="020B0400000000000000" pitchFamily="50" charset="-128"/>
            </a:endParaRPr>
          </a:p>
        </p:txBody>
      </p:sp>
      <p:sp>
        <p:nvSpPr>
          <p:cNvPr id="6" name="テキスト ボックス 5"/>
          <p:cNvSpPr txBox="1"/>
          <p:nvPr/>
        </p:nvSpPr>
        <p:spPr>
          <a:xfrm>
            <a:off x="381988" y="841112"/>
            <a:ext cx="6824304" cy="369332"/>
          </a:xfrm>
          <a:prstGeom prst="rect">
            <a:avLst/>
          </a:prstGeom>
          <a:noFill/>
        </p:spPr>
        <p:txBody>
          <a:bodyPr wrap="none" rtlCol="0">
            <a:spAutoFit/>
          </a:bodyPr>
          <a:lstStyle/>
          <a:p>
            <a:r>
              <a:rPr lang="ja-JP" altLang="en-US" dirty="0" smtClean="0">
                <a:latin typeface="BIZ UDPゴシック" panose="020B0400000000000000" pitchFamily="50" charset="-128"/>
                <a:ea typeface="BIZ UDPゴシック" panose="020B0400000000000000" pitchFamily="50" charset="-128"/>
              </a:rPr>
              <a:t>①ノックバックフレームが０じゃない場合、ノックバック処理を行う。</a:t>
            </a:r>
            <a:endParaRPr kumimoji="1" lang="en-US" altLang="ja-JP" dirty="0" smtClean="0">
              <a:latin typeface="BIZ UDPゴシック" panose="020B0400000000000000" pitchFamily="50" charset="-128"/>
              <a:ea typeface="BIZ UDPゴシック" panose="020B0400000000000000" pitchFamily="50" charset="-128"/>
            </a:endParaRPr>
          </a:p>
        </p:txBody>
      </p:sp>
      <p:sp>
        <p:nvSpPr>
          <p:cNvPr id="7" name="テキスト ボックス 6"/>
          <p:cNvSpPr txBox="1"/>
          <p:nvPr/>
        </p:nvSpPr>
        <p:spPr>
          <a:xfrm>
            <a:off x="381988" y="2598698"/>
            <a:ext cx="11678197" cy="1200329"/>
          </a:xfrm>
          <a:prstGeom prst="rect">
            <a:avLst/>
          </a:prstGeom>
          <a:noFill/>
        </p:spPr>
        <p:txBody>
          <a:bodyPr wrap="none" rtlCol="0">
            <a:spAutoFit/>
          </a:bodyPr>
          <a:lstStyle/>
          <a:p>
            <a:r>
              <a:rPr kumimoji="1" lang="ja-JP" altLang="en-US" dirty="0" smtClean="0">
                <a:latin typeface="BIZ UDPゴシック" panose="020B0400000000000000" pitchFamily="50" charset="-128"/>
                <a:ea typeface="BIZ UDPゴシック" panose="020B0400000000000000" pitchFamily="50" charset="-128"/>
              </a:rPr>
              <a:t>②サブステップ判定を行ってめり込みを回避する。</a:t>
            </a:r>
            <a:endParaRPr kumimoji="1" lang="en-US" altLang="ja-JP" dirty="0" smtClean="0">
              <a:latin typeface="BIZ UDPゴシック" panose="020B0400000000000000" pitchFamily="50" charset="-128"/>
              <a:ea typeface="BIZ UDPゴシック" panose="020B0400000000000000" pitchFamily="50" charset="-128"/>
            </a:endParaRPr>
          </a:p>
          <a:p>
            <a:r>
              <a:rPr lang="ja-JP" altLang="en-US" dirty="0" smtClean="0">
                <a:latin typeface="BIZ UDPゴシック" panose="020B0400000000000000" pitchFamily="50" charset="-128"/>
                <a:ea typeface="BIZ UDPゴシック" panose="020B0400000000000000" pitchFamily="50" charset="-128"/>
              </a:rPr>
              <a:t>　移動量が大きい場合、判定によっては、めり込みが発生する場合があるので、それを回避する。処理回数が、増える</a:t>
            </a:r>
            <a:endParaRPr lang="en-US" altLang="ja-JP" dirty="0" smtClean="0">
              <a:latin typeface="BIZ UDPゴシック" panose="020B0400000000000000" pitchFamily="50" charset="-128"/>
              <a:ea typeface="BIZ UDPゴシック" panose="020B0400000000000000" pitchFamily="50" charset="-128"/>
            </a:endParaRPr>
          </a:p>
          <a:p>
            <a:r>
              <a:rPr lang="ja-JP" altLang="en-US" dirty="0" smtClean="0">
                <a:latin typeface="BIZ UDPゴシック" panose="020B0400000000000000" pitchFamily="50" charset="-128"/>
                <a:ea typeface="BIZ UDPゴシック" panose="020B0400000000000000" pitchFamily="50" charset="-128"/>
              </a:rPr>
              <a:t>ので負荷がかかるが、すり抜け問題やめり込みを回避できる。</a:t>
            </a:r>
            <a:endParaRPr lang="en-US" altLang="ja-JP" dirty="0" smtClean="0">
              <a:latin typeface="BIZ UDPゴシック" panose="020B0400000000000000" pitchFamily="50" charset="-128"/>
              <a:ea typeface="BIZ UDPゴシック" panose="020B0400000000000000" pitchFamily="50" charset="-128"/>
            </a:endParaRPr>
          </a:p>
          <a:p>
            <a:r>
              <a:rPr lang="ja-JP" altLang="en-US" dirty="0">
                <a:latin typeface="BIZ UDPゴシック" panose="020B0400000000000000" pitchFamily="50" charset="-128"/>
                <a:ea typeface="BIZ UDPゴシック" panose="020B0400000000000000" pitchFamily="50" charset="-128"/>
              </a:rPr>
              <a:t>　</a:t>
            </a:r>
            <a:r>
              <a:rPr lang="ja-JP" altLang="en-US" dirty="0" smtClean="0">
                <a:latin typeface="BIZ UDPゴシック" panose="020B0400000000000000" pitchFamily="50" charset="-128"/>
                <a:ea typeface="BIZ UDPゴシック" panose="020B0400000000000000" pitchFamily="50" charset="-128"/>
              </a:rPr>
              <a:t>すり抜けが発生する場合としては、ブロックの大きさよりも移動量が大きい場合にすり抜けが発生する。</a:t>
            </a:r>
            <a:endParaRPr lang="en-US" altLang="ja-JP" dirty="0" smtClean="0">
              <a:latin typeface="BIZ UDPゴシック" panose="020B0400000000000000" pitchFamily="50" charset="-128"/>
              <a:ea typeface="BIZ UDPゴシック" panose="020B0400000000000000" pitchFamily="50" charset="-128"/>
            </a:endParaRPr>
          </a:p>
        </p:txBody>
      </p:sp>
      <p:sp>
        <p:nvSpPr>
          <p:cNvPr id="8" name="テキスト ボックス 7"/>
          <p:cNvSpPr txBox="1"/>
          <p:nvPr/>
        </p:nvSpPr>
        <p:spPr>
          <a:xfrm>
            <a:off x="381988" y="3976791"/>
            <a:ext cx="8077852" cy="646331"/>
          </a:xfrm>
          <a:prstGeom prst="rect">
            <a:avLst/>
          </a:prstGeom>
          <a:noFill/>
        </p:spPr>
        <p:txBody>
          <a:bodyPr wrap="none" rtlCol="0">
            <a:spAutoFit/>
          </a:bodyPr>
          <a:lstStyle/>
          <a:p>
            <a:r>
              <a:rPr lang="ja-JP" altLang="en-US" dirty="0" smtClean="0">
                <a:latin typeface="BIZ UDPゴシック" panose="020B0400000000000000" pitchFamily="50" charset="-128"/>
                <a:ea typeface="BIZ UDPゴシック" panose="020B0400000000000000" pitchFamily="50" charset="-128"/>
              </a:rPr>
              <a:t>③</a:t>
            </a:r>
            <a:r>
              <a:rPr lang="en-US" altLang="ja-JP" dirty="0" smtClean="0">
                <a:latin typeface="BIZ UDPゴシック" panose="020B0400000000000000" pitchFamily="50" charset="-128"/>
                <a:ea typeface="BIZ UDPゴシック" panose="020B0400000000000000" pitchFamily="50" charset="-128"/>
              </a:rPr>
              <a:t>x</a:t>
            </a:r>
            <a:r>
              <a:rPr lang="ja-JP" altLang="en-US" dirty="0" smtClean="0">
                <a:latin typeface="BIZ UDPゴシック" panose="020B0400000000000000" pitchFamily="50" charset="-128"/>
                <a:ea typeface="BIZ UDPゴシック" panose="020B0400000000000000" pitchFamily="50" charset="-128"/>
              </a:rPr>
              <a:t>とｙ方向で大きい方を処理回数の対象とする。</a:t>
            </a:r>
            <a:endParaRPr lang="en-US" altLang="ja-JP" dirty="0" smtClean="0">
              <a:latin typeface="BIZ UDPゴシック" panose="020B0400000000000000" pitchFamily="50" charset="-128"/>
              <a:ea typeface="BIZ UDPゴシック" panose="020B0400000000000000" pitchFamily="50" charset="-128"/>
            </a:endParaRPr>
          </a:p>
          <a:p>
            <a:r>
              <a:rPr lang="en-US" altLang="ja-JP" dirty="0" smtClean="0">
                <a:latin typeface="BIZ UDPゴシック" panose="020B0400000000000000" pitchFamily="50" charset="-128"/>
                <a:ea typeface="BIZ UDPゴシック" panose="020B0400000000000000" pitchFamily="50" charset="-128"/>
              </a:rPr>
              <a:t>※int</a:t>
            </a:r>
            <a:r>
              <a:rPr lang="ja-JP" altLang="en-US" dirty="0" smtClean="0">
                <a:latin typeface="BIZ UDPゴシック" panose="020B0400000000000000" pitchFamily="50" charset="-128"/>
                <a:ea typeface="BIZ UDPゴシック" panose="020B0400000000000000" pitchFamily="50" charset="-128"/>
              </a:rPr>
              <a:t>型にした場合に</a:t>
            </a:r>
            <a:r>
              <a:rPr lang="en-US" altLang="ja-JP" dirty="0" smtClean="0">
                <a:latin typeface="BIZ UDPゴシック" panose="020B0400000000000000" pitchFamily="50" charset="-128"/>
                <a:ea typeface="BIZ UDPゴシック" panose="020B0400000000000000" pitchFamily="50" charset="-128"/>
              </a:rPr>
              <a:t>0</a:t>
            </a:r>
            <a:r>
              <a:rPr lang="ja-JP" altLang="en-US" dirty="0" smtClean="0">
                <a:latin typeface="BIZ UDPゴシック" panose="020B0400000000000000" pitchFamily="50" charset="-128"/>
                <a:ea typeface="BIZ UDPゴシック" panose="020B0400000000000000" pitchFamily="50" charset="-128"/>
              </a:rPr>
              <a:t>になっても場合、最低でも１回</a:t>
            </a:r>
            <a:r>
              <a:rPr lang="ja-JP" altLang="en-US" dirty="0">
                <a:latin typeface="BIZ UDPゴシック" panose="020B0400000000000000" pitchFamily="50" charset="-128"/>
                <a:ea typeface="BIZ UDPゴシック" panose="020B0400000000000000" pitchFamily="50" charset="-128"/>
              </a:rPr>
              <a:t>処理を</a:t>
            </a:r>
            <a:r>
              <a:rPr lang="ja-JP" altLang="en-US" dirty="0" smtClean="0">
                <a:latin typeface="BIZ UDPゴシック" panose="020B0400000000000000" pitchFamily="50" charset="-128"/>
                <a:ea typeface="BIZ UDPゴシック" panose="020B0400000000000000" pitchFamily="50" charset="-128"/>
              </a:rPr>
              <a:t>するようにする。</a:t>
            </a:r>
            <a:endParaRPr lang="en-US" altLang="ja-JP" dirty="0" smtClean="0">
              <a:latin typeface="BIZ UDPゴシック" panose="020B0400000000000000" pitchFamily="50" charset="-128"/>
              <a:ea typeface="BIZ UDPゴシック" panose="020B0400000000000000" pitchFamily="50" charset="-128"/>
            </a:endParaRPr>
          </a:p>
        </p:txBody>
      </p:sp>
      <p:pic>
        <p:nvPicPr>
          <p:cNvPr id="9" name="図 8"/>
          <p:cNvPicPr>
            <a:picLocks noChangeAspect="1"/>
          </p:cNvPicPr>
          <p:nvPr/>
        </p:nvPicPr>
        <p:blipFill>
          <a:blip r:embed="rId3"/>
          <a:stretch>
            <a:fillRect/>
          </a:stretch>
        </p:blipFill>
        <p:spPr>
          <a:xfrm>
            <a:off x="515780" y="4800886"/>
            <a:ext cx="7919263" cy="927724"/>
          </a:xfrm>
          <a:prstGeom prst="rect">
            <a:avLst/>
          </a:prstGeom>
        </p:spPr>
      </p:pic>
    </p:spTree>
    <p:extLst>
      <p:ext uri="{BB962C8B-B14F-4D97-AF65-F5344CB8AC3E}">
        <p14:creationId xmlns:p14="http://schemas.microsoft.com/office/powerpoint/2010/main" val="832753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p:cNvSpPr txBox="1"/>
          <p:nvPr/>
        </p:nvSpPr>
        <p:spPr>
          <a:xfrm>
            <a:off x="369288" y="389446"/>
            <a:ext cx="5939446" cy="369332"/>
          </a:xfrm>
          <a:prstGeom prst="rect">
            <a:avLst/>
          </a:prstGeom>
          <a:noFill/>
        </p:spPr>
        <p:txBody>
          <a:bodyPr wrap="none" rtlCol="0">
            <a:spAutoFit/>
          </a:bodyPr>
          <a:lstStyle/>
          <a:p>
            <a:r>
              <a:rPr lang="ja-JP" altLang="en-US" dirty="0" smtClean="0">
                <a:latin typeface="BIZ UDPゴシック" panose="020B0400000000000000" pitchFamily="50" charset="-128"/>
                <a:ea typeface="BIZ UDPゴシック" panose="020B0400000000000000" pitchFamily="50" charset="-128"/>
              </a:rPr>
              <a:t>④ステップ回数が決まったら、</a:t>
            </a:r>
            <a:r>
              <a:rPr lang="en-US" altLang="ja-JP" dirty="0" smtClean="0">
                <a:latin typeface="BIZ UDPゴシック" panose="020B0400000000000000" pitchFamily="50" charset="-128"/>
                <a:ea typeface="BIZ UDPゴシック" panose="020B0400000000000000" pitchFamily="50" charset="-128"/>
              </a:rPr>
              <a:t>1</a:t>
            </a:r>
            <a:r>
              <a:rPr lang="ja-JP" altLang="en-US" dirty="0" smtClean="0">
                <a:latin typeface="BIZ UDPゴシック" panose="020B0400000000000000" pitchFamily="50" charset="-128"/>
                <a:ea typeface="BIZ UDPゴシック" panose="020B0400000000000000" pitchFamily="50" charset="-128"/>
              </a:rPr>
              <a:t>ステップの移動量を計算</a:t>
            </a:r>
            <a:endParaRPr kumimoji="1" lang="en-US" altLang="ja-JP" dirty="0" smtClean="0">
              <a:latin typeface="BIZ UDPゴシック" panose="020B0400000000000000" pitchFamily="50" charset="-128"/>
              <a:ea typeface="BIZ UDPゴシック" panose="020B0400000000000000" pitchFamily="50" charset="-128"/>
            </a:endParaRPr>
          </a:p>
        </p:txBody>
      </p:sp>
      <p:pic>
        <p:nvPicPr>
          <p:cNvPr id="2" name="図 1"/>
          <p:cNvPicPr>
            <a:picLocks noChangeAspect="1"/>
          </p:cNvPicPr>
          <p:nvPr/>
        </p:nvPicPr>
        <p:blipFill>
          <a:blip r:embed="rId2"/>
          <a:stretch>
            <a:fillRect/>
          </a:stretch>
        </p:blipFill>
        <p:spPr>
          <a:xfrm>
            <a:off x="782454" y="836389"/>
            <a:ext cx="4498756" cy="904922"/>
          </a:xfrm>
          <a:prstGeom prst="rect">
            <a:avLst/>
          </a:prstGeom>
        </p:spPr>
      </p:pic>
      <p:sp>
        <p:nvSpPr>
          <p:cNvPr id="11" name="テキスト ボックス 10"/>
          <p:cNvSpPr txBox="1"/>
          <p:nvPr/>
        </p:nvSpPr>
        <p:spPr>
          <a:xfrm>
            <a:off x="369288" y="5362012"/>
            <a:ext cx="4504759" cy="369332"/>
          </a:xfrm>
          <a:prstGeom prst="rect">
            <a:avLst/>
          </a:prstGeom>
          <a:noFill/>
        </p:spPr>
        <p:txBody>
          <a:bodyPr wrap="none" rtlCol="0">
            <a:spAutoFit/>
          </a:bodyPr>
          <a:lstStyle/>
          <a:p>
            <a:r>
              <a:rPr lang="ja-JP" altLang="en-US" dirty="0" smtClean="0">
                <a:latin typeface="BIZ UDPゴシック" panose="020B0400000000000000" pitchFamily="50" charset="-128"/>
                <a:ea typeface="BIZ UDPゴシック" panose="020B0400000000000000" pitchFamily="50" charset="-128"/>
              </a:rPr>
              <a:t>⑥ノックバックの勢いを徐々に減速させる。</a:t>
            </a:r>
            <a:endParaRPr kumimoji="1" lang="en-US" altLang="ja-JP" dirty="0" smtClean="0">
              <a:latin typeface="BIZ UDPゴシック" panose="020B0400000000000000" pitchFamily="50" charset="-128"/>
              <a:ea typeface="BIZ UDPゴシック" panose="020B0400000000000000" pitchFamily="50" charset="-128"/>
            </a:endParaRPr>
          </a:p>
        </p:txBody>
      </p:sp>
      <p:pic>
        <p:nvPicPr>
          <p:cNvPr id="3" name="図 2"/>
          <p:cNvPicPr>
            <a:picLocks noChangeAspect="1"/>
          </p:cNvPicPr>
          <p:nvPr/>
        </p:nvPicPr>
        <p:blipFill>
          <a:blip r:embed="rId3"/>
          <a:stretch>
            <a:fillRect/>
          </a:stretch>
        </p:blipFill>
        <p:spPr>
          <a:xfrm>
            <a:off x="703354" y="2584522"/>
            <a:ext cx="9155712" cy="2478072"/>
          </a:xfrm>
          <a:prstGeom prst="rect">
            <a:avLst/>
          </a:prstGeom>
        </p:spPr>
      </p:pic>
      <p:sp>
        <p:nvSpPr>
          <p:cNvPr id="12" name="テキスト ボックス 11"/>
          <p:cNvSpPr txBox="1"/>
          <p:nvPr/>
        </p:nvSpPr>
        <p:spPr>
          <a:xfrm>
            <a:off x="369288" y="2128384"/>
            <a:ext cx="4911922" cy="369332"/>
          </a:xfrm>
          <a:prstGeom prst="rect">
            <a:avLst/>
          </a:prstGeom>
          <a:noFill/>
        </p:spPr>
        <p:txBody>
          <a:bodyPr wrap="none" rtlCol="0">
            <a:spAutoFit/>
          </a:bodyPr>
          <a:lstStyle/>
          <a:p>
            <a:r>
              <a:rPr lang="ja-JP" altLang="en-US" dirty="0" smtClean="0">
                <a:latin typeface="BIZ UDPゴシック" panose="020B0400000000000000" pitchFamily="50" charset="-128"/>
                <a:ea typeface="BIZ UDPゴシック" panose="020B0400000000000000" pitchFamily="50" charset="-128"/>
              </a:rPr>
              <a:t>⑤ステップ回数だけ、マップの判定処理を行う。</a:t>
            </a:r>
            <a:endParaRPr kumimoji="1" lang="en-US" altLang="ja-JP" dirty="0" smtClean="0">
              <a:latin typeface="BIZ UDPゴシック" panose="020B0400000000000000" pitchFamily="50" charset="-128"/>
              <a:ea typeface="BIZ UDPゴシック" panose="020B0400000000000000" pitchFamily="50" charset="-128"/>
            </a:endParaRPr>
          </a:p>
        </p:txBody>
      </p:sp>
      <p:pic>
        <p:nvPicPr>
          <p:cNvPr id="13" name="図 12"/>
          <p:cNvPicPr>
            <a:picLocks noChangeAspect="1"/>
          </p:cNvPicPr>
          <p:nvPr/>
        </p:nvPicPr>
        <p:blipFill>
          <a:blip r:embed="rId4"/>
          <a:stretch>
            <a:fillRect/>
          </a:stretch>
        </p:blipFill>
        <p:spPr>
          <a:xfrm>
            <a:off x="723095" y="5865650"/>
            <a:ext cx="4558115" cy="878050"/>
          </a:xfrm>
          <a:prstGeom prst="rect">
            <a:avLst/>
          </a:prstGeom>
        </p:spPr>
      </p:pic>
    </p:spTree>
    <p:extLst>
      <p:ext uri="{BB962C8B-B14F-4D97-AF65-F5344CB8AC3E}">
        <p14:creationId xmlns:p14="http://schemas.microsoft.com/office/powerpoint/2010/main" val="308304340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10B2353B67B43842908B5E790F99ACAA" ma:contentTypeVersion="10" ma:contentTypeDescription="新しいドキュメントを作成します。" ma:contentTypeScope="" ma:versionID="0c793fabaaa39499dbb7fc1588a62011">
  <xsd:schema xmlns:xsd="http://www.w3.org/2001/XMLSchema" xmlns:xs="http://www.w3.org/2001/XMLSchema" xmlns:p="http://schemas.microsoft.com/office/2006/metadata/properties" xmlns:ns2="46e6a606-a55d-407f-80ff-05921be47282" xmlns:ns3="da918011-11cc-488c-9be6-480b4eacdce1" targetNamespace="http://schemas.microsoft.com/office/2006/metadata/properties" ma:root="true" ma:fieldsID="d107aeb88f85be8fc5a4006438786d90" ns2:_="" ns3:_="">
    <xsd:import namespace="46e6a606-a55d-407f-80ff-05921be47282"/>
    <xsd:import namespace="da918011-11cc-488c-9be6-480b4eacdce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e6a606-a55d-407f-80ff-05921be472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03996ee2-cfb0-413c-86f6-256a65fd6138"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a918011-11cc-488c-9be6-480b4eacdce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e207242-549e-4445-8dd7-58d6b234bc56}" ma:internalName="TaxCatchAll" ma:showField="CatchAllData" ma:web="da918011-11cc-488c-9be6-480b4eacdce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a918011-11cc-488c-9be6-480b4eacdce1" xsi:nil="true"/>
    <lcf76f155ced4ddcb4097134ff3c332f xmlns="46e6a606-a55d-407f-80ff-05921be4728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A568124-E3C4-43E9-9E55-DB3B5EF81D24}"/>
</file>

<file path=customXml/itemProps2.xml><?xml version="1.0" encoding="utf-8"?>
<ds:datastoreItem xmlns:ds="http://schemas.openxmlformats.org/officeDocument/2006/customXml" ds:itemID="{0B56C395-79C4-4FD0-8397-FF62988EBDCE}"/>
</file>

<file path=customXml/itemProps3.xml><?xml version="1.0" encoding="utf-8"?>
<ds:datastoreItem xmlns:ds="http://schemas.openxmlformats.org/officeDocument/2006/customXml" ds:itemID="{AE2E356B-3A6B-42DF-94A1-85BBE1268A96}"/>
</file>

<file path=docProps/app.xml><?xml version="1.0" encoding="utf-8"?>
<Properties xmlns="http://schemas.openxmlformats.org/officeDocument/2006/extended-properties" xmlns:vt="http://schemas.openxmlformats.org/officeDocument/2006/docPropsVTypes">
  <TotalTime>67</TotalTime>
  <Words>453</Words>
  <Application>Microsoft Office PowerPoint</Application>
  <PresentationFormat>ワイド画面</PresentationFormat>
  <Paragraphs>39</Paragraphs>
  <Slides>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BIZ UDPゴシック</vt:lpstr>
      <vt:lpstr>游ゴシック</vt:lpstr>
      <vt:lpstr>游ゴシック Light</vt:lpstr>
      <vt:lpstr>Arial</vt:lpstr>
      <vt:lpstr>Office テーマ</vt:lpstr>
      <vt:lpstr>当たり判定 ノックバック処理</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当たり判定</dc:title>
  <dc:creator>脇坂慎也</dc:creator>
  <cp:lastModifiedBy>脇坂慎也</cp:lastModifiedBy>
  <cp:revision>12</cp:revision>
  <dcterms:created xsi:type="dcterms:W3CDTF">2026-08-24T08:03:33Z</dcterms:created>
  <dcterms:modified xsi:type="dcterms:W3CDTF">2026-09-07T08:19:29Z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0x01010010B2353B67B43842908B5E790F99ACAA</vt:lpwstr>
  </property>
</Properties>
</file>